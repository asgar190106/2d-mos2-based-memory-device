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4610100" cy="3460750"/>
  <p:notesSz cx="4610100" cy="34607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63" d="100"/>
          <a:sy n="163" d="100"/>
        </p:scale>
        <p:origin x="-1666" y="-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rgbClr val="3333B2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71120">
              <a:lnSpc>
                <a:spcPts val="580"/>
              </a:lnSpc>
            </a:pPr>
            <a:fld id="{81D60167-4931-47E6-BA6A-407CBD079E47}" type="slidenum">
              <a:rPr spc="-20" dirty="0"/>
              <a:pPr marL="71120">
                <a:lnSpc>
                  <a:spcPts val="580"/>
                </a:lnSpc>
              </a:pPr>
              <a:t>‹#›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50" dirty="0"/>
              <a:t> </a:t>
            </a:r>
            <a:r>
              <a:rPr spc="-25" dirty="0"/>
              <a:t>17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3333B2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71120">
              <a:lnSpc>
                <a:spcPts val="580"/>
              </a:lnSpc>
            </a:pPr>
            <a:fld id="{81D60167-4931-47E6-BA6A-407CBD079E47}" type="slidenum">
              <a:rPr spc="-20" dirty="0"/>
              <a:pPr marL="71120">
                <a:lnSpc>
                  <a:spcPts val="580"/>
                </a:lnSpc>
              </a:pPr>
              <a:t>‹#›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50" dirty="0"/>
              <a:t> </a:t>
            </a:r>
            <a:r>
              <a:rPr spc="-25" dirty="0"/>
              <a:t>17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3/31/2026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71120">
              <a:lnSpc>
                <a:spcPts val="580"/>
              </a:lnSpc>
            </a:pPr>
            <a:fld id="{81D60167-4931-47E6-BA6A-407CBD079E47}" type="slidenum">
              <a:rPr spc="-20" dirty="0"/>
              <a:pPr marL="71120">
                <a:lnSpc>
                  <a:spcPts val="580"/>
                </a:lnSpc>
              </a:pPr>
              <a:t>‹#›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50" dirty="0"/>
              <a:t> </a:t>
            </a:r>
            <a:r>
              <a:rPr spc="-25" dirty="0"/>
              <a:t>17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3/31/2026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71120">
              <a:lnSpc>
                <a:spcPts val="580"/>
              </a:lnSpc>
            </a:pPr>
            <a:fld id="{81D60167-4931-47E6-BA6A-407CBD079E47}" type="slidenum">
              <a:rPr spc="-20" dirty="0"/>
              <a:pPr marL="71120">
                <a:lnSpc>
                  <a:spcPts val="580"/>
                </a:lnSpc>
              </a:pPr>
              <a:t>‹#›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50" dirty="0"/>
              <a:t> </a:t>
            </a:r>
            <a:r>
              <a:rPr spc="-25" dirty="0"/>
              <a:t>17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3/31/2026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71120">
              <a:lnSpc>
                <a:spcPts val="580"/>
              </a:lnSpc>
            </a:pPr>
            <a:fld id="{81D60167-4931-47E6-BA6A-407CBD079E47}" type="slidenum">
              <a:rPr spc="-20" dirty="0"/>
              <a:pPr marL="71120">
                <a:lnSpc>
                  <a:spcPts val="580"/>
                </a:lnSpc>
              </a:pPr>
              <a:t>‹#›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50" dirty="0"/>
              <a:t> </a:t>
            </a:r>
            <a:r>
              <a:rPr spc="-25" dirty="0"/>
              <a:t>17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77602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89465" y="327364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67268" y="327364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23614" y="3267290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60445" y="3273640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20326" y="3279990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31425" y="3273640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07626" y="326729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78593" y="3267290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02393" y="3273640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78593" y="3305391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9573" y="326729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97770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71276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67290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47014"/>
            <a:ext cx="3166745" cy="191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5456" y="783499"/>
            <a:ext cx="4365625" cy="14244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rgbClr val="3333B2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312234" y="3354670"/>
            <a:ext cx="241300" cy="89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71120">
              <a:lnSpc>
                <a:spcPts val="580"/>
              </a:lnSpc>
            </a:pPr>
            <a:fld id="{81D60167-4931-47E6-BA6A-407CBD079E47}" type="slidenum">
              <a:rPr spc="-20" dirty="0"/>
              <a:pPr marL="71120">
                <a:lnSpc>
                  <a:spcPts val="580"/>
                </a:lnSpc>
              </a:pPr>
              <a:t>‹#›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50" dirty="0"/>
              <a:t> </a:t>
            </a:r>
            <a:r>
              <a:rPr spc="-25" dirty="0"/>
              <a:t>17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slide" Target="slide4.xml"/><Relationship Id="rId18" Type="http://schemas.openxmlformats.org/officeDocument/2006/relationships/slide" Target="slide14.xml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slide" Target="slide3.xml"/><Relationship Id="rId17" Type="http://schemas.openxmlformats.org/officeDocument/2006/relationships/slide" Target="slide12.xml"/><Relationship Id="rId2" Type="http://schemas.openxmlformats.org/officeDocument/2006/relationships/image" Target="../media/image2.png"/><Relationship Id="rId16" Type="http://schemas.openxmlformats.org/officeDocument/2006/relationships/slide" Target="slide10.xml"/><Relationship Id="rId20" Type="http://schemas.openxmlformats.org/officeDocument/2006/relationships/slide" Target="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slide" Target="slide9.xml"/><Relationship Id="rId10" Type="http://schemas.openxmlformats.org/officeDocument/2006/relationships/image" Target="../media/image10.png"/><Relationship Id="rId19" Type="http://schemas.openxmlformats.org/officeDocument/2006/relationships/slide" Target="slide15.xml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4.jpeg"/><Relationship Id="rId7" Type="http://schemas.openxmlformats.org/officeDocument/2006/relationships/image" Target="../media/image3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jpeg"/><Relationship Id="rId4" Type="http://schemas.openxmlformats.org/officeDocument/2006/relationships/image" Target="../media/image3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5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35.png"/><Relationship Id="rId4" Type="http://schemas.openxmlformats.org/officeDocument/2006/relationships/image" Target="../media/image5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jpeg"/><Relationship Id="rId4" Type="http://schemas.openxmlformats.org/officeDocument/2006/relationships/image" Target="../media/image6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742" y="593432"/>
            <a:ext cx="4545965" cy="642620"/>
            <a:chOff x="56742" y="593432"/>
            <a:chExt cx="4545965" cy="642620"/>
          </a:xfrm>
        </p:grpSpPr>
        <p:sp>
          <p:nvSpPr>
            <p:cNvPr id="3" name="object 3"/>
            <p:cNvSpPr/>
            <p:nvPr/>
          </p:nvSpPr>
          <p:spPr>
            <a:xfrm>
              <a:off x="56742" y="593432"/>
              <a:ext cx="4495165" cy="82550"/>
            </a:xfrm>
            <a:custGeom>
              <a:avLst/>
              <a:gdLst/>
              <a:ahLst/>
              <a:cxnLst/>
              <a:rect l="l" t="t" r="r" b="b"/>
              <a:pathLst>
                <a:path w="4495165" h="82550">
                  <a:moveTo>
                    <a:pt x="4443761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94562" y="82384"/>
                  </a:lnTo>
                  <a:lnTo>
                    <a:pt x="4494562" y="50800"/>
                  </a:lnTo>
                  <a:lnTo>
                    <a:pt x="4490553" y="31075"/>
                  </a:lnTo>
                  <a:lnTo>
                    <a:pt x="4479639" y="14922"/>
                  </a:lnTo>
                  <a:lnTo>
                    <a:pt x="4463486" y="4008"/>
                  </a:lnTo>
                  <a:lnTo>
                    <a:pt x="4443761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7543" y="656687"/>
              <a:ext cx="4495165" cy="579120"/>
            </a:xfrm>
            <a:custGeom>
              <a:avLst/>
              <a:gdLst/>
              <a:ahLst/>
              <a:cxnLst/>
              <a:rect l="l" t="t" r="r" b="b"/>
              <a:pathLst>
                <a:path w="4495165" h="579119">
                  <a:moveTo>
                    <a:pt x="4494562" y="0"/>
                  </a:moveTo>
                  <a:lnTo>
                    <a:pt x="0" y="0"/>
                  </a:lnTo>
                  <a:lnTo>
                    <a:pt x="0" y="579124"/>
                  </a:lnTo>
                  <a:lnTo>
                    <a:pt x="4494562" y="579124"/>
                  </a:lnTo>
                  <a:lnTo>
                    <a:pt x="44945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6742" y="637850"/>
              <a:ext cx="4495165" cy="547370"/>
            </a:xfrm>
            <a:custGeom>
              <a:avLst/>
              <a:gdLst/>
              <a:ahLst/>
              <a:cxnLst/>
              <a:rect l="l" t="t" r="r" b="b"/>
              <a:pathLst>
                <a:path w="4495165" h="547369">
                  <a:moveTo>
                    <a:pt x="4494562" y="0"/>
                  </a:moveTo>
                  <a:lnTo>
                    <a:pt x="0" y="0"/>
                  </a:lnTo>
                  <a:lnTo>
                    <a:pt x="0" y="496360"/>
                  </a:lnTo>
                  <a:lnTo>
                    <a:pt x="4008" y="516085"/>
                  </a:lnTo>
                  <a:lnTo>
                    <a:pt x="14922" y="532238"/>
                  </a:lnTo>
                  <a:lnTo>
                    <a:pt x="31075" y="543152"/>
                  </a:lnTo>
                  <a:lnTo>
                    <a:pt x="50800" y="547161"/>
                  </a:lnTo>
                  <a:lnTo>
                    <a:pt x="4443761" y="547161"/>
                  </a:lnTo>
                  <a:lnTo>
                    <a:pt x="4463486" y="543152"/>
                  </a:lnTo>
                  <a:lnTo>
                    <a:pt x="4479639" y="532238"/>
                  </a:lnTo>
                  <a:lnTo>
                    <a:pt x="4490553" y="516085"/>
                  </a:lnTo>
                  <a:lnTo>
                    <a:pt x="4494562" y="496360"/>
                  </a:lnTo>
                  <a:lnTo>
                    <a:pt x="4494562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7543" y="656687"/>
            <a:ext cx="4495165" cy="57912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2001520" marR="231775" indent="-1864995">
              <a:lnSpc>
                <a:spcPts val="1200"/>
              </a:lnSpc>
              <a:spcBef>
                <a:spcPts val="645"/>
              </a:spcBef>
            </a:pPr>
            <a:r>
              <a:rPr spc="-25" dirty="0"/>
              <a:t>Two-</a:t>
            </a:r>
            <a:r>
              <a:rPr spc="-35" dirty="0"/>
              <a:t>Dimensional</a:t>
            </a:r>
            <a:r>
              <a:rPr spc="-20" dirty="0"/>
              <a:t> </a:t>
            </a:r>
            <a:r>
              <a:rPr spc="-35" dirty="0"/>
              <a:t>Memtransistors:</a:t>
            </a:r>
            <a:r>
              <a:rPr spc="90" dirty="0"/>
              <a:t> </a:t>
            </a:r>
            <a:r>
              <a:rPr spc="-20" dirty="0"/>
              <a:t>Modeling </a:t>
            </a:r>
            <a:r>
              <a:rPr spc="-35" dirty="0"/>
              <a:t>and</a:t>
            </a:r>
            <a:r>
              <a:rPr spc="-15" dirty="0"/>
              <a:t> </a:t>
            </a:r>
            <a:r>
              <a:rPr spc="-20" dirty="0"/>
              <a:t>Simulation for</a:t>
            </a:r>
            <a:r>
              <a:rPr spc="-15" dirty="0"/>
              <a:t> </a:t>
            </a:r>
            <a:r>
              <a:rPr spc="-10" dirty="0"/>
              <a:t>Circuit Design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786153" y="1375510"/>
            <a:ext cx="1036319" cy="387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234950">
              <a:lnSpc>
                <a:spcPts val="950"/>
              </a:lnSpc>
              <a:spcBef>
                <a:spcPts val="135"/>
              </a:spcBef>
            </a:pPr>
            <a:r>
              <a:rPr sz="800" spc="-10" dirty="0">
                <a:latin typeface="Arial MT"/>
                <a:cs typeface="Arial MT"/>
              </a:rPr>
              <a:t>ASGAR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ALI</a:t>
            </a:r>
            <a:r>
              <a:rPr sz="800" dirty="0">
                <a:latin typeface="Arial MT"/>
                <a:cs typeface="Arial MT"/>
              </a:rPr>
              <a:t> M.Tech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VLSI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DESIGN</a:t>
            </a:r>
            <a:endParaRPr sz="800">
              <a:latin typeface="Arial MT"/>
              <a:cs typeface="Arial MT"/>
            </a:endParaRPr>
          </a:p>
          <a:p>
            <a:pPr marL="203200">
              <a:lnSpc>
                <a:spcPts val="915"/>
              </a:lnSpc>
            </a:pPr>
            <a:r>
              <a:rPr sz="800" spc="-10" dirty="0">
                <a:latin typeface="Arial MT"/>
                <a:cs typeface="Arial MT"/>
              </a:rPr>
              <a:t>2024PVL0094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72119" y="1912895"/>
            <a:ext cx="1064260" cy="4051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02895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 MT"/>
                <a:cs typeface="Arial MT"/>
              </a:rPr>
              <a:t>M.Tech</a:t>
            </a:r>
            <a:r>
              <a:rPr sz="500" spc="40" dirty="0">
                <a:latin typeface="Arial MT"/>
                <a:cs typeface="Arial MT"/>
              </a:rPr>
              <a:t> </a:t>
            </a:r>
            <a:r>
              <a:rPr sz="500" spc="-10" dirty="0">
                <a:latin typeface="Arial MT"/>
                <a:cs typeface="Arial MT"/>
              </a:rPr>
              <a:t>Student</a:t>
            </a:r>
            <a:r>
              <a:rPr sz="500" spc="500" dirty="0">
                <a:latin typeface="Arial MT"/>
                <a:cs typeface="Arial MT"/>
              </a:rPr>
              <a:t> </a:t>
            </a:r>
            <a:r>
              <a:rPr sz="500" dirty="0">
                <a:latin typeface="Arial MT"/>
                <a:cs typeface="Arial MT"/>
              </a:rPr>
              <a:t>Department</a:t>
            </a:r>
            <a:r>
              <a:rPr sz="500" spc="45" dirty="0">
                <a:latin typeface="Arial MT"/>
                <a:cs typeface="Arial MT"/>
              </a:rPr>
              <a:t> </a:t>
            </a:r>
            <a:r>
              <a:rPr sz="500" dirty="0">
                <a:latin typeface="Arial MT"/>
                <a:cs typeface="Arial MT"/>
              </a:rPr>
              <a:t>of</a:t>
            </a:r>
            <a:r>
              <a:rPr sz="500" spc="45" dirty="0">
                <a:latin typeface="Arial MT"/>
                <a:cs typeface="Arial MT"/>
              </a:rPr>
              <a:t> </a:t>
            </a:r>
            <a:r>
              <a:rPr sz="500" dirty="0">
                <a:latin typeface="Arial MT"/>
                <a:cs typeface="Arial MT"/>
              </a:rPr>
              <a:t>Electrical</a:t>
            </a:r>
            <a:r>
              <a:rPr sz="500" spc="45" dirty="0">
                <a:latin typeface="Arial MT"/>
                <a:cs typeface="Arial MT"/>
              </a:rPr>
              <a:t> </a:t>
            </a:r>
            <a:r>
              <a:rPr sz="500" spc="-10" dirty="0">
                <a:latin typeface="Arial MT"/>
                <a:cs typeface="Arial MT"/>
              </a:rPr>
              <a:t>Engineering</a:t>
            </a:r>
            <a:endParaRPr sz="500">
              <a:latin typeface="Arial MT"/>
              <a:cs typeface="Arial MT"/>
            </a:endParaRPr>
          </a:p>
          <a:p>
            <a:pPr algn="ctr">
              <a:lnSpc>
                <a:spcPts val="595"/>
              </a:lnSpc>
            </a:pPr>
            <a:r>
              <a:rPr sz="500" dirty="0">
                <a:latin typeface="Arial MT"/>
                <a:cs typeface="Arial MT"/>
              </a:rPr>
              <a:t>IIT</a:t>
            </a:r>
            <a:r>
              <a:rPr sz="500" spc="120" dirty="0">
                <a:latin typeface="Arial MT"/>
                <a:cs typeface="Arial MT"/>
              </a:rPr>
              <a:t> </a:t>
            </a:r>
            <a:r>
              <a:rPr sz="500" spc="-10" dirty="0">
                <a:latin typeface="Arial MT"/>
                <a:cs typeface="Arial MT"/>
              </a:rPr>
              <a:t>Jammu</a:t>
            </a:r>
            <a:endParaRPr sz="500">
              <a:latin typeface="Arial MT"/>
              <a:cs typeface="Arial MT"/>
            </a:endParaRPr>
          </a:p>
          <a:p>
            <a:pPr marL="191770" marR="184150" algn="ctr">
              <a:lnSpc>
                <a:spcPts val="600"/>
              </a:lnSpc>
              <a:spcBef>
                <a:spcPts val="20"/>
              </a:spcBef>
            </a:pPr>
            <a:r>
              <a:rPr sz="500" b="1" spc="-10" dirty="0">
                <a:latin typeface="Arial"/>
                <a:cs typeface="Arial"/>
              </a:rPr>
              <a:t>Under</a:t>
            </a:r>
            <a:r>
              <a:rPr sz="500" b="1" spc="20" dirty="0">
                <a:latin typeface="Arial"/>
                <a:cs typeface="Arial"/>
              </a:rPr>
              <a:t> </a:t>
            </a:r>
            <a:r>
              <a:rPr sz="500" b="1" dirty="0">
                <a:latin typeface="Arial"/>
                <a:cs typeface="Arial"/>
              </a:rPr>
              <a:t>the</a:t>
            </a:r>
            <a:r>
              <a:rPr sz="500" b="1" spc="25" dirty="0">
                <a:latin typeface="Arial"/>
                <a:cs typeface="Arial"/>
              </a:rPr>
              <a:t> </a:t>
            </a:r>
            <a:r>
              <a:rPr sz="500" b="1" spc="-20" dirty="0">
                <a:latin typeface="Arial"/>
                <a:cs typeface="Arial"/>
              </a:rPr>
              <a:t>Guidance</a:t>
            </a:r>
            <a:r>
              <a:rPr sz="500" b="1" spc="25" dirty="0">
                <a:latin typeface="Arial"/>
                <a:cs typeface="Arial"/>
              </a:rPr>
              <a:t> </a:t>
            </a:r>
            <a:r>
              <a:rPr sz="500" b="1" spc="-25" dirty="0">
                <a:latin typeface="Arial"/>
                <a:cs typeface="Arial"/>
              </a:rPr>
              <a:t>of:</a:t>
            </a:r>
            <a:r>
              <a:rPr sz="500" b="1" spc="500" dirty="0">
                <a:latin typeface="Arial"/>
                <a:cs typeface="Arial"/>
              </a:rPr>
              <a:t> </a:t>
            </a:r>
            <a:r>
              <a:rPr sz="500" b="1" spc="-10" dirty="0">
                <a:latin typeface="Arial"/>
                <a:cs typeface="Arial"/>
              </a:rPr>
              <a:t>Dr.Chandan</a:t>
            </a:r>
            <a:r>
              <a:rPr sz="500" b="1" spc="25" dirty="0">
                <a:latin typeface="Arial"/>
                <a:cs typeface="Arial"/>
              </a:rPr>
              <a:t> </a:t>
            </a:r>
            <a:r>
              <a:rPr sz="500" b="1" spc="-20" dirty="0">
                <a:latin typeface="Arial"/>
                <a:cs typeface="Arial"/>
              </a:rPr>
              <a:t>Yadav</a:t>
            </a:r>
            <a:endParaRPr sz="5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548" y="59926"/>
            <a:ext cx="470612" cy="46801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31551" y="59926"/>
            <a:ext cx="470612" cy="468012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2990165" y="3396538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910548" y="3392576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088350" y="3392576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3199447" y="3383695"/>
            <a:ext cx="203200" cy="55880"/>
            <a:chOff x="3199447" y="3383695"/>
            <a:chExt cx="203200" cy="55880"/>
          </a:xfrm>
        </p:grpSpPr>
        <p:sp>
          <p:nvSpPr>
            <p:cNvPr id="16" name="object 16"/>
            <p:cNvSpPr/>
            <p:nvPr/>
          </p:nvSpPr>
          <p:spPr>
            <a:xfrm>
              <a:off x="3262616" y="3386225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2" y="0"/>
                  </a:lnTo>
                  <a:lnTo>
                    <a:pt x="63832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99447" y="339257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3488347" y="3382429"/>
            <a:ext cx="203200" cy="58419"/>
            <a:chOff x="3488347" y="3382429"/>
            <a:chExt cx="203200" cy="58419"/>
          </a:xfrm>
        </p:grpSpPr>
        <p:sp>
          <p:nvSpPr>
            <p:cNvPr id="19" name="object 19"/>
            <p:cNvSpPr/>
            <p:nvPr/>
          </p:nvSpPr>
          <p:spPr>
            <a:xfrm>
              <a:off x="3577248" y="3398926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488347" y="339257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564548" y="3386225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0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0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3777246" y="3382429"/>
            <a:ext cx="203200" cy="58419"/>
            <a:chOff x="3777246" y="3382429"/>
            <a:chExt cx="203200" cy="58419"/>
          </a:xfrm>
        </p:grpSpPr>
        <p:sp>
          <p:nvSpPr>
            <p:cNvPr id="23" name="object 23"/>
            <p:cNvSpPr/>
            <p:nvPr/>
          </p:nvSpPr>
          <p:spPr>
            <a:xfrm>
              <a:off x="3853447" y="3386225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0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0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777246" y="339257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853447" y="3424326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0" y="127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/>
          <p:nvPr/>
        </p:nvSpPr>
        <p:spPr>
          <a:xfrm>
            <a:off x="4142347" y="3386225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" name="object 27"/>
          <p:cNvGrpSpPr/>
          <p:nvPr/>
        </p:nvGrpSpPr>
        <p:grpSpPr>
          <a:xfrm>
            <a:off x="4337275" y="3383695"/>
            <a:ext cx="238760" cy="57150"/>
            <a:chOff x="4337275" y="3383695"/>
            <a:chExt cx="238760" cy="57150"/>
          </a:xfrm>
        </p:grpSpPr>
        <p:sp>
          <p:nvSpPr>
            <p:cNvPr id="28" name="object 28"/>
            <p:cNvSpPr/>
            <p:nvPr/>
          </p:nvSpPr>
          <p:spPr>
            <a:xfrm>
              <a:off x="4461727" y="3416706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0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434663" y="339021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339806" y="3386225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79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79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290830"/>
          </a:xfrm>
          <a:custGeom>
            <a:avLst/>
            <a:gdLst/>
            <a:ahLst/>
            <a:cxnLst/>
            <a:rect l="l" t="t" r="r" b="b"/>
            <a:pathLst>
              <a:path w="4608195" h="290830">
                <a:moveTo>
                  <a:pt x="4608004" y="0"/>
                </a:moveTo>
                <a:lnTo>
                  <a:pt x="0" y="0"/>
                </a:lnTo>
                <a:lnTo>
                  <a:pt x="0" y="290233"/>
                </a:lnTo>
                <a:lnTo>
                  <a:pt x="4608004" y="290233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25" dirty="0"/>
              <a:t>Table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spc="-25" dirty="0"/>
              <a:t>Contents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564" y="567105"/>
            <a:ext cx="116967" cy="1169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564" y="824077"/>
            <a:ext cx="116967" cy="11696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564" y="1081049"/>
            <a:ext cx="116967" cy="11696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564" y="1338021"/>
            <a:ext cx="116967" cy="11696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564" y="1594993"/>
            <a:ext cx="116967" cy="11696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564" y="1851964"/>
            <a:ext cx="116967" cy="11696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1564" y="2108936"/>
            <a:ext cx="116967" cy="11696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1564" y="2365908"/>
            <a:ext cx="116967" cy="11696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1564" y="2622880"/>
            <a:ext cx="116967" cy="116966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1564" y="2879852"/>
            <a:ext cx="116967" cy="116967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-13766" y="543165"/>
            <a:ext cx="1828800" cy="24599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95"/>
              </a:spcBef>
            </a:pPr>
            <a:r>
              <a:rPr sz="750" baseline="11111" dirty="0">
                <a:solidFill>
                  <a:srgbClr val="EAEAF7"/>
                </a:solidFill>
                <a:latin typeface="Arial MT"/>
                <a:cs typeface="Arial MT"/>
              </a:rPr>
              <a:t>1</a:t>
            </a:r>
            <a:r>
              <a:rPr sz="750" spc="277" baseline="11111" dirty="0">
                <a:solidFill>
                  <a:srgbClr val="EAEAF7"/>
                </a:solidFill>
                <a:latin typeface="Arial MT"/>
                <a:cs typeface="Arial MT"/>
              </a:rPr>
              <a:t>  </a:t>
            </a:r>
            <a:r>
              <a:rPr sz="800" spc="-10" dirty="0">
                <a:solidFill>
                  <a:srgbClr val="3333B2"/>
                </a:solidFill>
                <a:latin typeface="Arial MT"/>
                <a:cs typeface="Arial MT"/>
                <a:hlinkClick r:id="rId12" action="ppaction://hlinksldjump"/>
              </a:rPr>
              <a:t>Introduction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800">
              <a:latin typeface="Arial MT"/>
              <a:cs typeface="Arial MT"/>
            </a:endParaRPr>
          </a:p>
          <a:p>
            <a:pPr marL="127000">
              <a:lnSpc>
                <a:spcPct val="100000"/>
              </a:lnSpc>
            </a:pPr>
            <a:r>
              <a:rPr sz="750" baseline="11111" dirty="0">
                <a:solidFill>
                  <a:srgbClr val="EAEAF7"/>
                </a:solidFill>
                <a:latin typeface="Arial MT"/>
                <a:cs typeface="Arial MT"/>
              </a:rPr>
              <a:t>2</a:t>
            </a:r>
            <a:r>
              <a:rPr sz="750" spc="644" baseline="11111" dirty="0">
                <a:solidFill>
                  <a:srgbClr val="EAEAF7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3333B2"/>
                </a:solidFill>
                <a:latin typeface="Arial MT"/>
                <a:cs typeface="Arial MT"/>
                <a:hlinkClick r:id="rId13" action="ppaction://hlinksldjump"/>
              </a:rPr>
              <a:t>Need</a:t>
            </a:r>
            <a:r>
              <a:rPr sz="800" spc="20" dirty="0">
                <a:solidFill>
                  <a:srgbClr val="3333B2"/>
                </a:solidFill>
                <a:latin typeface="Arial MT"/>
                <a:cs typeface="Arial MT"/>
                <a:hlinkClick r:id="rId13" action="ppaction://hlinksldjump"/>
              </a:rPr>
              <a:t> </a:t>
            </a:r>
            <a:r>
              <a:rPr sz="800" dirty="0">
                <a:solidFill>
                  <a:srgbClr val="3333B2"/>
                </a:solidFill>
                <a:latin typeface="Arial MT"/>
                <a:cs typeface="Arial MT"/>
                <a:hlinkClick r:id="rId13" action="ppaction://hlinksldjump"/>
              </a:rPr>
              <a:t>and</a:t>
            </a:r>
            <a:r>
              <a:rPr sz="800" spc="20" dirty="0">
                <a:solidFill>
                  <a:srgbClr val="3333B2"/>
                </a:solidFill>
                <a:latin typeface="Arial MT"/>
                <a:cs typeface="Arial MT"/>
                <a:hlinkClick r:id="rId13" action="ppaction://hlinksldjump"/>
              </a:rPr>
              <a:t> </a:t>
            </a:r>
            <a:r>
              <a:rPr sz="800" spc="-10" dirty="0">
                <a:solidFill>
                  <a:srgbClr val="3333B2"/>
                </a:solidFill>
                <a:latin typeface="Arial MT"/>
                <a:cs typeface="Arial MT"/>
                <a:hlinkClick r:id="rId13" action="ppaction://hlinksldjump"/>
              </a:rPr>
              <a:t>Motivation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800">
              <a:latin typeface="Arial MT"/>
              <a:cs typeface="Arial MT"/>
            </a:endParaRPr>
          </a:p>
          <a:p>
            <a:pPr marL="127000">
              <a:lnSpc>
                <a:spcPct val="100000"/>
              </a:lnSpc>
            </a:pPr>
            <a:r>
              <a:rPr sz="750" baseline="11111" dirty="0">
                <a:solidFill>
                  <a:srgbClr val="EAEAF7"/>
                </a:solidFill>
                <a:latin typeface="Arial MT"/>
                <a:cs typeface="Arial MT"/>
              </a:rPr>
              <a:t>3</a:t>
            </a:r>
            <a:r>
              <a:rPr sz="750" spc="292" baseline="11111" dirty="0">
                <a:solidFill>
                  <a:srgbClr val="EAEAF7"/>
                </a:solidFill>
                <a:latin typeface="Arial MT"/>
                <a:cs typeface="Arial MT"/>
              </a:rPr>
              <a:t>  </a:t>
            </a:r>
            <a:r>
              <a:rPr sz="800" dirty="0">
                <a:solidFill>
                  <a:srgbClr val="3333B2"/>
                </a:solidFill>
                <a:latin typeface="Arial MT"/>
                <a:cs typeface="Arial MT"/>
                <a:hlinkClick r:id="rId14" action="ppaction://hlinksldjump"/>
              </a:rPr>
              <a:t>Literature</a:t>
            </a:r>
            <a:r>
              <a:rPr sz="800" spc="75" dirty="0">
                <a:solidFill>
                  <a:srgbClr val="3333B2"/>
                </a:solidFill>
                <a:latin typeface="Arial MT"/>
                <a:cs typeface="Arial MT"/>
                <a:hlinkClick r:id="rId14" action="ppaction://hlinksldjump"/>
              </a:rPr>
              <a:t> </a:t>
            </a:r>
            <a:r>
              <a:rPr sz="800" spc="-10" dirty="0">
                <a:solidFill>
                  <a:srgbClr val="3333B2"/>
                </a:solidFill>
                <a:latin typeface="Arial MT"/>
                <a:cs typeface="Arial MT"/>
                <a:hlinkClick r:id="rId14" action="ppaction://hlinksldjump"/>
              </a:rPr>
              <a:t>Review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800">
              <a:latin typeface="Arial MT"/>
              <a:cs typeface="Arial MT"/>
            </a:endParaRPr>
          </a:p>
          <a:p>
            <a:pPr marL="127000">
              <a:lnSpc>
                <a:spcPct val="100000"/>
              </a:lnSpc>
            </a:pPr>
            <a:r>
              <a:rPr sz="750" baseline="11111" dirty="0">
                <a:solidFill>
                  <a:srgbClr val="EAEAF7"/>
                </a:solidFill>
                <a:latin typeface="Arial MT"/>
                <a:cs typeface="Arial MT"/>
              </a:rPr>
              <a:t>4</a:t>
            </a:r>
            <a:r>
              <a:rPr sz="750" spc="735" baseline="11111" dirty="0">
                <a:solidFill>
                  <a:srgbClr val="EAEAF7"/>
                </a:solidFill>
                <a:latin typeface="Arial MT"/>
                <a:cs typeface="Arial MT"/>
              </a:rPr>
              <a:t> </a:t>
            </a:r>
            <a:r>
              <a:rPr sz="800" spc="-40" dirty="0">
                <a:solidFill>
                  <a:srgbClr val="3333B2"/>
                </a:solidFill>
                <a:latin typeface="Arial MT"/>
                <a:cs typeface="Arial MT"/>
                <a:hlinkClick r:id="rId15" action="ppaction://hlinksldjump"/>
              </a:rPr>
              <a:t>Research</a:t>
            </a:r>
            <a:r>
              <a:rPr sz="800" spc="50" dirty="0">
                <a:solidFill>
                  <a:srgbClr val="3333B2"/>
                </a:solidFill>
                <a:latin typeface="Arial MT"/>
                <a:cs typeface="Arial MT"/>
                <a:hlinkClick r:id="rId15" action="ppaction://hlinksldjump"/>
              </a:rPr>
              <a:t> </a:t>
            </a:r>
            <a:r>
              <a:rPr sz="800" spc="-20" dirty="0">
                <a:solidFill>
                  <a:srgbClr val="3333B2"/>
                </a:solidFill>
                <a:latin typeface="Arial MT"/>
                <a:cs typeface="Arial MT"/>
                <a:hlinkClick r:id="rId15" action="ppaction://hlinksldjump"/>
              </a:rPr>
              <a:t>Gaps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800">
              <a:latin typeface="Arial MT"/>
              <a:cs typeface="Arial MT"/>
            </a:endParaRPr>
          </a:p>
          <a:p>
            <a:pPr marL="127000">
              <a:lnSpc>
                <a:spcPct val="100000"/>
              </a:lnSpc>
            </a:pPr>
            <a:r>
              <a:rPr sz="750" baseline="11111" dirty="0">
                <a:solidFill>
                  <a:srgbClr val="EAEAF7"/>
                </a:solidFill>
                <a:latin typeface="Arial MT"/>
                <a:cs typeface="Arial MT"/>
              </a:rPr>
              <a:t>5</a:t>
            </a:r>
            <a:r>
              <a:rPr sz="750" spc="735" baseline="11111" dirty="0">
                <a:solidFill>
                  <a:srgbClr val="EAEAF7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33B2"/>
                </a:solidFill>
                <a:latin typeface="Arial MT"/>
                <a:cs typeface="Arial MT"/>
                <a:hlinkClick r:id="rId16" action="ppaction://hlinksldjump"/>
              </a:rPr>
              <a:t>Current</a:t>
            </a:r>
            <a:r>
              <a:rPr sz="800" spc="50" dirty="0">
                <a:solidFill>
                  <a:srgbClr val="3333B2"/>
                </a:solidFill>
                <a:latin typeface="Arial MT"/>
                <a:cs typeface="Arial MT"/>
                <a:hlinkClick r:id="rId16" action="ppaction://hlinksldjump"/>
              </a:rPr>
              <a:t> </a:t>
            </a:r>
            <a:r>
              <a:rPr sz="800" spc="-20" dirty="0">
                <a:solidFill>
                  <a:srgbClr val="3333B2"/>
                </a:solidFill>
                <a:latin typeface="Arial MT"/>
                <a:cs typeface="Arial MT"/>
                <a:hlinkClick r:id="rId16" action="ppaction://hlinksldjump"/>
              </a:rPr>
              <a:t>Work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800">
              <a:latin typeface="Arial MT"/>
              <a:cs typeface="Arial MT"/>
            </a:endParaRPr>
          </a:p>
          <a:p>
            <a:pPr marL="127000">
              <a:lnSpc>
                <a:spcPct val="100000"/>
              </a:lnSpc>
              <a:spcBef>
                <a:spcPts val="5"/>
              </a:spcBef>
            </a:pPr>
            <a:r>
              <a:rPr sz="750" baseline="11111" dirty="0">
                <a:solidFill>
                  <a:srgbClr val="EAEAF7"/>
                </a:solidFill>
                <a:latin typeface="Arial MT"/>
                <a:cs typeface="Arial MT"/>
              </a:rPr>
              <a:t>6</a:t>
            </a:r>
            <a:r>
              <a:rPr sz="750" spc="277" baseline="11111" dirty="0">
                <a:solidFill>
                  <a:srgbClr val="EAEAF7"/>
                </a:solidFill>
                <a:latin typeface="Arial MT"/>
                <a:cs typeface="Arial MT"/>
              </a:rPr>
              <a:t>  </a:t>
            </a:r>
            <a:r>
              <a:rPr sz="800" dirty="0">
                <a:solidFill>
                  <a:srgbClr val="3333B2"/>
                </a:solidFill>
                <a:latin typeface="Arial MT"/>
                <a:cs typeface="Arial MT"/>
                <a:hlinkClick r:id="rId17" action="ppaction://hlinksldjump"/>
              </a:rPr>
              <a:t>Simulation</a:t>
            </a:r>
            <a:r>
              <a:rPr sz="800" spc="60" dirty="0">
                <a:solidFill>
                  <a:srgbClr val="3333B2"/>
                </a:solidFill>
                <a:latin typeface="Arial MT"/>
                <a:cs typeface="Arial MT"/>
                <a:hlinkClick r:id="rId17" action="ppaction://hlinksldjump"/>
              </a:rPr>
              <a:t> </a:t>
            </a:r>
            <a:r>
              <a:rPr sz="800" spc="-10" dirty="0">
                <a:solidFill>
                  <a:srgbClr val="3333B2"/>
                </a:solidFill>
                <a:latin typeface="Arial MT"/>
                <a:cs typeface="Arial MT"/>
                <a:hlinkClick r:id="rId17" action="ppaction://hlinksldjump"/>
              </a:rPr>
              <a:t>result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800">
              <a:latin typeface="Arial MT"/>
              <a:cs typeface="Arial MT"/>
            </a:endParaRPr>
          </a:p>
          <a:p>
            <a:pPr marL="127000">
              <a:lnSpc>
                <a:spcPct val="100000"/>
              </a:lnSpc>
            </a:pPr>
            <a:r>
              <a:rPr sz="750" baseline="11111" dirty="0">
                <a:solidFill>
                  <a:srgbClr val="EAEAF7"/>
                </a:solidFill>
                <a:latin typeface="Arial MT"/>
                <a:cs typeface="Arial MT"/>
              </a:rPr>
              <a:t>7</a:t>
            </a:r>
            <a:r>
              <a:rPr sz="750" spc="652" baseline="11111" dirty="0">
                <a:solidFill>
                  <a:srgbClr val="EAEAF7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33B2"/>
                </a:solidFill>
                <a:latin typeface="Arial MT"/>
                <a:cs typeface="Arial MT"/>
                <a:hlinkClick r:id="rId18" action="ppaction://hlinksldjump"/>
              </a:rPr>
              <a:t>Post</a:t>
            </a:r>
            <a:r>
              <a:rPr sz="800" spc="25" dirty="0">
                <a:solidFill>
                  <a:srgbClr val="3333B2"/>
                </a:solidFill>
                <a:latin typeface="Arial MT"/>
                <a:cs typeface="Arial MT"/>
                <a:hlinkClick r:id="rId18" action="ppaction://hlinksldjump"/>
              </a:rPr>
              <a:t> </a:t>
            </a:r>
            <a:r>
              <a:rPr sz="800" dirty="0">
                <a:solidFill>
                  <a:srgbClr val="3333B2"/>
                </a:solidFill>
                <a:latin typeface="Arial MT"/>
                <a:cs typeface="Arial MT"/>
                <a:hlinkClick r:id="rId18" action="ppaction://hlinksldjump"/>
              </a:rPr>
              <a:t>Programing</a:t>
            </a:r>
            <a:r>
              <a:rPr sz="800" spc="25" dirty="0">
                <a:solidFill>
                  <a:srgbClr val="3333B2"/>
                </a:solidFill>
                <a:latin typeface="Arial MT"/>
                <a:cs typeface="Arial MT"/>
                <a:hlinkClick r:id="rId18" action="ppaction://hlinksldjump"/>
              </a:rPr>
              <a:t> </a:t>
            </a:r>
            <a:r>
              <a:rPr sz="800" spc="-20" dirty="0">
                <a:solidFill>
                  <a:srgbClr val="3333B2"/>
                </a:solidFill>
                <a:latin typeface="Arial MT"/>
                <a:cs typeface="Arial MT"/>
                <a:hlinkClick r:id="rId18" action="ppaction://hlinksldjump"/>
              </a:rPr>
              <a:t>pulse</a:t>
            </a:r>
            <a:r>
              <a:rPr sz="800" spc="25" dirty="0">
                <a:solidFill>
                  <a:srgbClr val="3333B2"/>
                </a:solidFill>
                <a:latin typeface="Arial MT"/>
                <a:cs typeface="Arial MT"/>
                <a:hlinkClick r:id="rId18" action="ppaction://hlinksldjump"/>
              </a:rPr>
              <a:t> </a:t>
            </a:r>
            <a:r>
              <a:rPr sz="800" spc="-10" dirty="0">
                <a:solidFill>
                  <a:srgbClr val="3333B2"/>
                </a:solidFill>
                <a:latin typeface="Arial MT"/>
                <a:cs typeface="Arial MT"/>
                <a:hlinkClick r:id="rId18" action="ppaction://hlinksldjump"/>
              </a:rPr>
              <a:t>state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800">
              <a:latin typeface="Arial MT"/>
              <a:cs typeface="Arial MT"/>
            </a:endParaRPr>
          </a:p>
          <a:p>
            <a:pPr marL="127000">
              <a:lnSpc>
                <a:spcPct val="100000"/>
              </a:lnSpc>
            </a:pPr>
            <a:r>
              <a:rPr sz="750" baseline="11111" dirty="0">
                <a:solidFill>
                  <a:srgbClr val="EAEAF7"/>
                </a:solidFill>
                <a:latin typeface="Arial MT"/>
                <a:cs typeface="Arial MT"/>
              </a:rPr>
              <a:t>8</a:t>
            </a:r>
            <a:r>
              <a:rPr sz="750" spc="742" baseline="11111" dirty="0">
                <a:solidFill>
                  <a:srgbClr val="EAEAF7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3333B2"/>
                </a:solidFill>
                <a:latin typeface="Arial MT"/>
                <a:cs typeface="Arial MT"/>
                <a:hlinkClick r:id="rId19" action="ppaction://hlinksldjump"/>
              </a:rPr>
              <a:t>Challenges</a:t>
            </a:r>
            <a:r>
              <a:rPr sz="800" spc="55" dirty="0">
                <a:solidFill>
                  <a:srgbClr val="3333B2"/>
                </a:solidFill>
                <a:latin typeface="Arial MT"/>
                <a:cs typeface="Arial MT"/>
                <a:hlinkClick r:id="rId19" action="ppaction://hlinksldjump"/>
              </a:rPr>
              <a:t> </a:t>
            </a:r>
            <a:r>
              <a:rPr sz="800" dirty="0">
                <a:solidFill>
                  <a:srgbClr val="3333B2"/>
                </a:solidFill>
                <a:latin typeface="Arial MT"/>
                <a:cs typeface="Arial MT"/>
                <a:hlinkClick r:id="rId19" action="ppaction://hlinksldjump"/>
              </a:rPr>
              <a:t>in</a:t>
            </a:r>
            <a:r>
              <a:rPr sz="800" spc="50" dirty="0">
                <a:solidFill>
                  <a:srgbClr val="3333B2"/>
                </a:solidFill>
                <a:latin typeface="Arial MT"/>
                <a:cs typeface="Arial MT"/>
                <a:hlinkClick r:id="rId19" action="ppaction://hlinksldjump"/>
              </a:rPr>
              <a:t> </a:t>
            </a:r>
            <a:r>
              <a:rPr sz="800" dirty="0">
                <a:solidFill>
                  <a:srgbClr val="3333B2"/>
                </a:solidFill>
                <a:latin typeface="Arial MT"/>
                <a:cs typeface="Arial MT"/>
                <a:hlinkClick r:id="rId19" action="ppaction://hlinksldjump"/>
              </a:rPr>
              <a:t>Current</a:t>
            </a:r>
            <a:r>
              <a:rPr sz="800" spc="50" dirty="0">
                <a:solidFill>
                  <a:srgbClr val="3333B2"/>
                </a:solidFill>
                <a:latin typeface="Arial MT"/>
                <a:cs typeface="Arial MT"/>
                <a:hlinkClick r:id="rId19" action="ppaction://hlinksldjump"/>
              </a:rPr>
              <a:t> </a:t>
            </a:r>
            <a:r>
              <a:rPr sz="800" spc="-20" dirty="0">
                <a:solidFill>
                  <a:srgbClr val="3333B2"/>
                </a:solidFill>
                <a:latin typeface="Arial MT"/>
                <a:cs typeface="Arial MT"/>
                <a:hlinkClick r:id="rId19" action="ppaction://hlinksldjump"/>
              </a:rPr>
              <a:t>Work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800">
              <a:latin typeface="Arial MT"/>
              <a:cs typeface="Arial MT"/>
            </a:endParaRPr>
          </a:p>
          <a:p>
            <a:pPr marL="127000">
              <a:lnSpc>
                <a:spcPct val="100000"/>
              </a:lnSpc>
              <a:spcBef>
                <a:spcPts val="5"/>
              </a:spcBef>
            </a:pPr>
            <a:r>
              <a:rPr sz="750" baseline="11111" dirty="0">
                <a:solidFill>
                  <a:srgbClr val="EAEAF7"/>
                </a:solidFill>
                <a:latin typeface="Arial MT"/>
                <a:cs typeface="Arial MT"/>
              </a:rPr>
              <a:t>9</a:t>
            </a:r>
            <a:r>
              <a:rPr sz="750" spc="277" baseline="11111" dirty="0">
                <a:solidFill>
                  <a:srgbClr val="EAEAF7"/>
                </a:solidFill>
                <a:latin typeface="Arial MT"/>
                <a:cs typeface="Arial MT"/>
              </a:rPr>
              <a:t>  </a:t>
            </a:r>
            <a:r>
              <a:rPr sz="800" dirty="0">
                <a:solidFill>
                  <a:srgbClr val="3333B2"/>
                </a:solidFill>
                <a:latin typeface="Arial MT"/>
                <a:cs typeface="Arial MT"/>
                <a:hlinkClick r:id="rId20" action="ppaction://hlinksldjump"/>
              </a:rPr>
              <a:t>Outline</a:t>
            </a:r>
            <a:r>
              <a:rPr sz="800" spc="55" dirty="0">
                <a:solidFill>
                  <a:srgbClr val="3333B2"/>
                </a:solidFill>
                <a:latin typeface="Arial MT"/>
                <a:cs typeface="Arial MT"/>
                <a:hlinkClick r:id="rId20" action="ppaction://hlinksldjump"/>
              </a:rPr>
              <a:t> </a:t>
            </a:r>
            <a:r>
              <a:rPr sz="800" dirty="0">
                <a:solidFill>
                  <a:srgbClr val="3333B2"/>
                </a:solidFill>
                <a:latin typeface="Arial MT"/>
                <a:cs typeface="Arial MT"/>
                <a:hlinkClick r:id="rId20" action="ppaction://hlinksldjump"/>
              </a:rPr>
              <a:t>of</a:t>
            </a:r>
            <a:r>
              <a:rPr sz="800" spc="50" dirty="0">
                <a:solidFill>
                  <a:srgbClr val="3333B2"/>
                </a:solidFill>
                <a:latin typeface="Arial MT"/>
                <a:cs typeface="Arial MT"/>
                <a:hlinkClick r:id="rId20" action="ppaction://hlinksldjump"/>
              </a:rPr>
              <a:t> </a:t>
            </a:r>
            <a:r>
              <a:rPr sz="800" dirty="0">
                <a:solidFill>
                  <a:srgbClr val="3333B2"/>
                </a:solidFill>
                <a:latin typeface="Arial MT"/>
                <a:cs typeface="Arial MT"/>
                <a:hlinkClick r:id="rId20" action="ppaction://hlinksldjump"/>
              </a:rPr>
              <a:t>the</a:t>
            </a:r>
            <a:r>
              <a:rPr sz="800" spc="55" dirty="0">
                <a:solidFill>
                  <a:srgbClr val="3333B2"/>
                </a:solidFill>
                <a:latin typeface="Arial MT"/>
                <a:cs typeface="Arial MT"/>
                <a:hlinkClick r:id="rId20" action="ppaction://hlinksldjump"/>
              </a:rPr>
              <a:t> </a:t>
            </a:r>
            <a:r>
              <a:rPr sz="800" dirty="0">
                <a:solidFill>
                  <a:srgbClr val="3333B2"/>
                </a:solidFill>
                <a:latin typeface="Arial MT"/>
                <a:cs typeface="Arial MT"/>
                <a:hlinkClick r:id="rId20" action="ppaction://hlinksldjump"/>
              </a:rPr>
              <a:t>Next</a:t>
            </a:r>
            <a:r>
              <a:rPr sz="800" spc="55" dirty="0">
                <a:solidFill>
                  <a:srgbClr val="3333B2"/>
                </a:solidFill>
                <a:latin typeface="Arial MT"/>
                <a:cs typeface="Arial MT"/>
                <a:hlinkClick r:id="rId20" action="ppaction://hlinksldjump"/>
              </a:rPr>
              <a:t> </a:t>
            </a:r>
            <a:r>
              <a:rPr sz="800" spc="-35" dirty="0">
                <a:solidFill>
                  <a:srgbClr val="3333B2"/>
                </a:solidFill>
                <a:latin typeface="Arial MT"/>
                <a:cs typeface="Arial MT"/>
                <a:hlinkClick r:id="rId20" action="ppaction://hlinksldjump"/>
              </a:rPr>
              <a:t>Research</a:t>
            </a:r>
            <a:r>
              <a:rPr sz="800" spc="55" dirty="0">
                <a:solidFill>
                  <a:srgbClr val="3333B2"/>
                </a:solidFill>
                <a:latin typeface="Arial MT"/>
                <a:cs typeface="Arial MT"/>
                <a:hlinkClick r:id="rId20" action="ppaction://hlinksldjump"/>
              </a:rPr>
              <a:t> </a:t>
            </a:r>
            <a:r>
              <a:rPr sz="800" spc="-20" dirty="0">
                <a:solidFill>
                  <a:srgbClr val="3333B2"/>
                </a:solidFill>
                <a:latin typeface="Arial MT"/>
                <a:cs typeface="Arial MT"/>
                <a:hlinkClick r:id="rId20" action="ppaction://hlinksldjump"/>
              </a:rPr>
              <a:t>Plan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800">
              <a:latin typeface="Arial MT"/>
              <a:cs typeface="Arial MT"/>
            </a:endParaRPr>
          </a:p>
          <a:p>
            <a:pPr marL="109855">
              <a:lnSpc>
                <a:spcPct val="100000"/>
              </a:lnSpc>
            </a:pPr>
            <a:r>
              <a:rPr sz="750" baseline="11111" dirty="0">
                <a:solidFill>
                  <a:srgbClr val="EAEAF7"/>
                </a:solidFill>
                <a:latin typeface="Arial MT"/>
                <a:cs typeface="Arial MT"/>
              </a:rPr>
              <a:t>10</a:t>
            </a:r>
            <a:r>
              <a:rPr sz="750" spc="540" baseline="11111" dirty="0">
                <a:solidFill>
                  <a:srgbClr val="EAEAF7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3333B2"/>
                </a:solidFill>
                <a:latin typeface="Arial MT"/>
                <a:cs typeface="Arial MT"/>
                <a:hlinkClick r:id="rId20" action="ppaction://hlinksldjump"/>
              </a:rPr>
              <a:t>References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120">
              <a:lnSpc>
                <a:spcPts val="580"/>
              </a:lnSpc>
            </a:pPr>
            <a:fld id="{81D60167-4931-47E6-BA6A-407CBD079E47}" type="slidenum">
              <a:rPr spc="-20" dirty="0"/>
              <a:pPr marL="71120">
                <a:lnSpc>
                  <a:spcPts val="580"/>
                </a:lnSpc>
              </a:pPr>
              <a:t>2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50" dirty="0"/>
              <a:t> </a:t>
            </a:r>
            <a:r>
              <a:rPr spc="-25" dirty="0"/>
              <a:t>17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290830"/>
          </a:xfrm>
          <a:custGeom>
            <a:avLst/>
            <a:gdLst/>
            <a:ahLst/>
            <a:cxnLst/>
            <a:rect l="l" t="t" r="r" b="b"/>
            <a:pathLst>
              <a:path w="4608195" h="290830">
                <a:moveTo>
                  <a:pt x="4608004" y="0"/>
                </a:moveTo>
                <a:lnTo>
                  <a:pt x="0" y="0"/>
                </a:lnTo>
                <a:lnTo>
                  <a:pt x="0" y="290233"/>
                </a:lnTo>
                <a:lnTo>
                  <a:pt x="4608004" y="290233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35" dirty="0"/>
              <a:t>Introduction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183" y="478650"/>
            <a:ext cx="47688" cy="4768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09943" y="414945"/>
            <a:ext cx="4157979" cy="13309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b="1" spc="-25" dirty="0">
                <a:latin typeface="Arial"/>
                <a:cs typeface="Arial"/>
              </a:rPr>
              <a:t>Memtransistor</a:t>
            </a:r>
            <a:r>
              <a:rPr sz="800" b="1" spc="65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Structure</a:t>
            </a:r>
            <a:r>
              <a:rPr sz="800" b="1" spc="60" dirty="0">
                <a:latin typeface="Arial"/>
                <a:cs typeface="Arial"/>
              </a:rPr>
              <a:t> </a:t>
            </a:r>
            <a:r>
              <a:rPr sz="800" dirty="0">
                <a:latin typeface="Arial MT"/>
                <a:cs typeface="Arial MT"/>
              </a:rPr>
              <a:t>:</a:t>
            </a:r>
            <a:r>
              <a:rPr sz="800" spc="15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three-</a:t>
            </a:r>
            <a:r>
              <a:rPr sz="800" dirty="0">
                <a:latin typeface="Arial MT"/>
                <a:cs typeface="Arial MT"/>
              </a:rPr>
              <a:t>terminal</a:t>
            </a:r>
            <a:r>
              <a:rPr sz="800" spc="6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hybrid</a:t>
            </a:r>
            <a:r>
              <a:rPr sz="800" spc="60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device</a:t>
            </a:r>
            <a:r>
              <a:rPr sz="800" spc="6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(source,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drain,</a:t>
            </a:r>
            <a:r>
              <a:rPr sz="800" spc="6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gate)</a:t>
            </a:r>
            <a:r>
              <a:rPr sz="800" spc="6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that</a:t>
            </a:r>
            <a:r>
              <a:rPr sz="800" spc="60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merges </a:t>
            </a:r>
            <a:r>
              <a:rPr sz="800" dirty="0">
                <a:latin typeface="Arial MT"/>
                <a:cs typeface="Arial MT"/>
              </a:rPr>
              <a:t>memristor’s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non-</a:t>
            </a:r>
            <a:r>
              <a:rPr sz="800" dirty="0">
                <a:latin typeface="Arial MT"/>
                <a:cs typeface="Arial MT"/>
              </a:rPr>
              <a:t>volatile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memory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with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transistor’s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gate-</a:t>
            </a:r>
            <a:r>
              <a:rPr sz="800" dirty="0">
                <a:latin typeface="Arial MT"/>
                <a:cs typeface="Arial MT"/>
              </a:rPr>
              <a:t>tunable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conductance.</a:t>
            </a:r>
            <a:endParaRPr sz="800">
              <a:latin typeface="Arial MT"/>
              <a:cs typeface="Arial MT"/>
            </a:endParaRPr>
          </a:p>
          <a:p>
            <a:pPr marL="12700" marR="17780">
              <a:lnSpc>
                <a:spcPts val="950"/>
              </a:lnSpc>
              <a:spcBef>
                <a:spcPts val="575"/>
              </a:spcBef>
            </a:pPr>
            <a:r>
              <a:rPr sz="800" b="1" spc="-20" dirty="0">
                <a:latin typeface="Arial"/>
                <a:cs typeface="Arial"/>
              </a:rPr>
              <a:t>Independent</a:t>
            </a:r>
            <a:r>
              <a:rPr sz="800" b="1" spc="50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Read/Write</a:t>
            </a:r>
            <a:r>
              <a:rPr sz="800" dirty="0">
                <a:latin typeface="Arial MT"/>
                <a:cs typeface="Arial MT"/>
              </a:rPr>
              <a:t>:</a:t>
            </a:r>
            <a:r>
              <a:rPr sz="800" spc="1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gate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terminal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lets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us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control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reading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writing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separately,</a:t>
            </a:r>
            <a:r>
              <a:rPr sz="800" dirty="0">
                <a:latin typeface="Arial MT"/>
                <a:cs typeface="Arial MT"/>
              </a:rPr>
              <a:t> unlike</a:t>
            </a:r>
            <a:r>
              <a:rPr sz="800" spc="-10" dirty="0">
                <a:latin typeface="Arial MT"/>
                <a:cs typeface="Arial MT"/>
              </a:rPr>
              <a:t> memristors.</a:t>
            </a:r>
            <a:endParaRPr sz="800">
              <a:latin typeface="Arial MT"/>
              <a:cs typeface="Arial MT"/>
            </a:endParaRPr>
          </a:p>
          <a:p>
            <a:pPr marL="12700" marR="366395">
              <a:lnSpc>
                <a:spcPts val="950"/>
              </a:lnSpc>
              <a:spcBef>
                <a:spcPts val="575"/>
              </a:spcBef>
            </a:pPr>
            <a:r>
              <a:rPr sz="800" b="1" spc="-40" dirty="0">
                <a:latin typeface="Arial"/>
                <a:cs typeface="Arial"/>
              </a:rPr>
              <a:t>Enhanced</a:t>
            </a:r>
            <a:r>
              <a:rPr sz="800" b="1" spc="30" dirty="0">
                <a:latin typeface="Arial"/>
                <a:cs typeface="Arial"/>
              </a:rPr>
              <a:t> </a:t>
            </a:r>
            <a:r>
              <a:rPr sz="800" b="1" spc="-25" dirty="0">
                <a:latin typeface="Arial"/>
                <a:cs typeface="Arial"/>
              </a:rPr>
              <a:t>Functionality</a:t>
            </a:r>
            <a:r>
              <a:rPr sz="800" b="1" spc="45" dirty="0">
                <a:latin typeface="Arial"/>
                <a:cs typeface="Arial"/>
              </a:rPr>
              <a:t> </a:t>
            </a:r>
            <a:r>
              <a:rPr sz="800" dirty="0">
                <a:latin typeface="Arial MT"/>
                <a:cs typeface="Arial MT"/>
              </a:rPr>
              <a:t>:</a:t>
            </a:r>
            <a:r>
              <a:rPr sz="800" spc="10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Works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as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both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memory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logic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helps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overcome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von</a:t>
            </a:r>
            <a:r>
              <a:rPr sz="800" spc="-10" dirty="0">
                <a:latin typeface="Arial MT"/>
                <a:cs typeface="Arial MT"/>
              </a:rPr>
              <a:t> Neumann</a:t>
            </a:r>
            <a:r>
              <a:rPr sz="800" spc="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bottleneck</a:t>
            </a:r>
            <a:r>
              <a:rPr sz="800" spc="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by</a:t>
            </a:r>
            <a:r>
              <a:rPr sz="800" spc="1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reducing</a:t>
            </a:r>
            <a:r>
              <a:rPr sz="800" spc="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gap</a:t>
            </a:r>
            <a:r>
              <a:rPr sz="800" spc="10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between</a:t>
            </a:r>
            <a:r>
              <a:rPr sz="800" spc="1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memory</a:t>
            </a:r>
            <a:r>
              <a:rPr sz="800" spc="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1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processor.</a:t>
            </a:r>
            <a:endParaRPr sz="800">
              <a:latin typeface="Arial MT"/>
              <a:cs typeface="Arial MT"/>
            </a:endParaRPr>
          </a:p>
          <a:p>
            <a:pPr marL="12700" marR="62865">
              <a:lnSpc>
                <a:spcPts val="950"/>
              </a:lnSpc>
              <a:spcBef>
                <a:spcPts val="575"/>
              </a:spcBef>
            </a:pPr>
            <a:r>
              <a:rPr sz="800" b="1" spc="-35" dirty="0">
                <a:latin typeface="Arial"/>
                <a:cs typeface="Arial"/>
              </a:rPr>
              <a:t>Reduced</a:t>
            </a:r>
            <a:r>
              <a:rPr sz="800" b="1" spc="35" dirty="0">
                <a:latin typeface="Arial"/>
                <a:cs typeface="Arial"/>
              </a:rPr>
              <a:t> </a:t>
            </a:r>
            <a:r>
              <a:rPr sz="800" b="1" spc="-20" dirty="0">
                <a:latin typeface="Arial"/>
                <a:cs typeface="Arial"/>
              </a:rPr>
              <a:t>Complexity</a:t>
            </a:r>
            <a:r>
              <a:rPr sz="800" spc="-20" dirty="0">
                <a:latin typeface="Arial MT"/>
                <a:cs typeface="Arial MT"/>
              </a:rPr>
              <a:t>:</a:t>
            </a:r>
            <a:r>
              <a:rPr sz="800" spc="114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Memtransistors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eliminate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30" dirty="0">
                <a:latin typeface="Arial MT"/>
                <a:cs typeface="Arial MT"/>
              </a:rPr>
              <a:t>need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for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extra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selector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transistors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that </a:t>
            </a:r>
            <a:r>
              <a:rPr sz="800" spc="-10" dirty="0">
                <a:latin typeface="Arial MT"/>
                <a:cs typeface="Arial MT"/>
              </a:rPr>
              <a:t>are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required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in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memristor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crossbar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arrays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to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spc="-45" dirty="0">
                <a:latin typeface="Arial MT"/>
                <a:cs typeface="Arial MT"/>
              </a:rPr>
              <a:t>access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individual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memory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cells.</a:t>
            </a:r>
            <a:r>
              <a:rPr sz="800" spc="10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This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leads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to</a:t>
            </a:r>
            <a:r>
              <a:rPr sz="800" dirty="0">
                <a:latin typeface="Arial MT"/>
                <a:cs typeface="Arial MT"/>
              </a:rPr>
              <a:t> more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area-</a:t>
            </a:r>
            <a:r>
              <a:rPr sz="800" spc="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10" dirty="0">
                <a:latin typeface="Arial MT"/>
                <a:cs typeface="Arial MT"/>
              </a:rPr>
              <a:t> </a:t>
            </a:r>
            <a:r>
              <a:rPr sz="800" spc="-30" dirty="0">
                <a:latin typeface="Arial MT"/>
                <a:cs typeface="Arial MT"/>
              </a:rPr>
              <a:t>energy-</a:t>
            </a:r>
            <a:r>
              <a:rPr sz="800" dirty="0">
                <a:latin typeface="Arial MT"/>
                <a:cs typeface="Arial MT"/>
              </a:rPr>
              <a:t>efficient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designs.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1183" y="793013"/>
            <a:ext cx="47688" cy="4768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1183" y="1107363"/>
            <a:ext cx="47688" cy="4768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1183" y="1421726"/>
            <a:ext cx="47688" cy="4768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93240" y="1858558"/>
            <a:ext cx="850036" cy="70741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499781" y="2673466"/>
            <a:ext cx="160845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sz="700" spc="2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2D</a:t>
            </a:r>
            <a:r>
              <a:rPr sz="700" spc="2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Back</a:t>
            </a:r>
            <a:r>
              <a:rPr sz="700" spc="2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gated</a:t>
            </a:r>
            <a:r>
              <a:rPr sz="700" spc="2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memtransistor[1]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120">
              <a:lnSpc>
                <a:spcPts val="580"/>
              </a:lnSpc>
            </a:pPr>
            <a:fld id="{81D60167-4931-47E6-BA6A-407CBD079E47}" type="slidenum">
              <a:rPr spc="-20" dirty="0"/>
              <a:pPr marL="71120">
                <a:lnSpc>
                  <a:spcPts val="580"/>
                </a:lnSpc>
              </a:pPr>
              <a:t>3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50" dirty="0"/>
              <a:t> </a:t>
            </a:r>
            <a:r>
              <a:rPr spc="-25" dirty="0"/>
              <a:t>17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290830"/>
          </a:xfrm>
          <a:custGeom>
            <a:avLst/>
            <a:gdLst/>
            <a:ahLst/>
            <a:cxnLst/>
            <a:rect l="l" t="t" r="r" b="b"/>
            <a:pathLst>
              <a:path w="4608195" h="290830">
                <a:moveTo>
                  <a:pt x="4608004" y="0"/>
                </a:moveTo>
                <a:lnTo>
                  <a:pt x="0" y="0"/>
                </a:lnTo>
                <a:lnTo>
                  <a:pt x="0" y="290233"/>
                </a:lnTo>
                <a:lnTo>
                  <a:pt x="4608004" y="290233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40" dirty="0"/>
              <a:t>Need</a:t>
            </a:r>
            <a:r>
              <a:rPr spc="-30" dirty="0"/>
              <a:t> </a:t>
            </a:r>
            <a:r>
              <a:rPr spc="-35" dirty="0"/>
              <a:t>and</a:t>
            </a:r>
            <a:r>
              <a:rPr spc="-30" dirty="0"/>
              <a:t> </a:t>
            </a:r>
            <a:r>
              <a:rPr spc="-10" dirty="0"/>
              <a:t>Motivation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183" y="409803"/>
            <a:ext cx="47688" cy="4768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5554" y="617601"/>
            <a:ext cx="38417" cy="3841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5554" y="856043"/>
            <a:ext cx="38417" cy="3841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5554" y="1094486"/>
            <a:ext cx="38417" cy="3841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1183" y="1530921"/>
            <a:ext cx="47688" cy="4768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45554" y="1738719"/>
            <a:ext cx="38417" cy="3841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45554" y="2013153"/>
            <a:ext cx="38417" cy="3841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45554" y="2186381"/>
            <a:ext cx="38417" cy="3841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45554" y="2359596"/>
            <a:ext cx="38417" cy="38417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309943" y="346111"/>
            <a:ext cx="4193540" cy="2287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9530">
              <a:lnSpc>
                <a:spcPct val="100000"/>
              </a:lnSpc>
              <a:spcBef>
                <a:spcPts val="95"/>
              </a:spcBef>
            </a:pPr>
            <a:r>
              <a:rPr sz="800" b="1" dirty="0">
                <a:latin typeface="Arial"/>
                <a:cs typeface="Arial"/>
              </a:rPr>
              <a:t>Need</a:t>
            </a:r>
            <a:r>
              <a:rPr sz="800" b="1" spc="5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of</a:t>
            </a:r>
            <a:r>
              <a:rPr sz="800" b="1" spc="5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Memtransistor</a:t>
            </a:r>
            <a:endParaRPr sz="800">
              <a:latin typeface="Arial"/>
              <a:cs typeface="Arial"/>
            </a:endParaRPr>
          </a:p>
          <a:p>
            <a:pPr marL="227329" marR="401955">
              <a:lnSpc>
                <a:spcPts val="800"/>
              </a:lnSpc>
              <a:spcBef>
                <a:spcPts val="765"/>
              </a:spcBef>
            </a:pPr>
            <a:r>
              <a:rPr sz="700" b="1" dirty="0">
                <a:latin typeface="Arial"/>
                <a:cs typeface="Arial"/>
              </a:rPr>
              <a:t>The</a:t>
            </a:r>
            <a:r>
              <a:rPr sz="700" b="1" spc="40" dirty="0">
                <a:latin typeface="Arial"/>
                <a:cs typeface="Arial"/>
              </a:rPr>
              <a:t> </a:t>
            </a:r>
            <a:r>
              <a:rPr sz="700" b="1" spc="-20" dirty="0">
                <a:latin typeface="Arial"/>
                <a:cs typeface="Arial"/>
              </a:rPr>
              <a:t>von</a:t>
            </a:r>
            <a:r>
              <a:rPr sz="700" b="1" spc="45" dirty="0">
                <a:latin typeface="Arial"/>
                <a:cs typeface="Arial"/>
              </a:rPr>
              <a:t> </a:t>
            </a:r>
            <a:r>
              <a:rPr sz="700" b="1" spc="-10" dirty="0">
                <a:latin typeface="Arial"/>
                <a:cs typeface="Arial"/>
              </a:rPr>
              <a:t>Neumann</a:t>
            </a:r>
            <a:r>
              <a:rPr sz="700" b="1" spc="45" dirty="0">
                <a:latin typeface="Arial"/>
                <a:cs typeface="Arial"/>
              </a:rPr>
              <a:t> </a:t>
            </a:r>
            <a:r>
              <a:rPr sz="700" b="1" spc="-10" dirty="0">
                <a:latin typeface="Arial"/>
                <a:cs typeface="Arial"/>
              </a:rPr>
              <a:t>Bottleneck</a:t>
            </a:r>
            <a:r>
              <a:rPr sz="700" b="1" spc="30" dirty="0">
                <a:latin typeface="Arial"/>
                <a:cs typeface="Arial"/>
              </a:rPr>
              <a:t> </a:t>
            </a:r>
            <a:r>
              <a:rPr sz="700" dirty="0">
                <a:latin typeface="Arial MT"/>
                <a:cs typeface="Arial MT"/>
              </a:rPr>
              <a:t>:</a:t>
            </a:r>
            <a:r>
              <a:rPr sz="700" spc="12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In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traditional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computers,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CPU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and</a:t>
            </a:r>
            <a:r>
              <a:rPr sz="700" spc="3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memory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are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spc="-25" dirty="0">
                <a:latin typeface="Arial MT"/>
                <a:cs typeface="Arial MT"/>
              </a:rPr>
              <a:t>separate.</a:t>
            </a:r>
            <a:r>
              <a:rPr sz="700" spc="50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Continuous</a:t>
            </a:r>
            <a:r>
              <a:rPr sz="700" spc="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data</a:t>
            </a:r>
            <a:r>
              <a:rPr sz="700" spc="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transfer</a:t>
            </a:r>
            <a:r>
              <a:rPr sz="700" spc="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between</a:t>
            </a:r>
            <a:r>
              <a:rPr sz="700" spc="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them</a:t>
            </a:r>
            <a:r>
              <a:rPr sz="700" spc="5" dirty="0">
                <a:latin typeface="Arial MT"/>
                <a:cs typeface="Arial MT"/>
              </a:rPr>
              <a:t> </a:t>
            </a:r>
            <a:r>
              <a:rPr sz="700" spc="-20" dirty="0">
                <a:latin typeface="Arial MT"/>
                <a:cs typeface="Arial MT"/>
              </a:rPr>
              <a:t>slows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performance</a:t>
            </a:r>
            <a:r>
              <a:rPr sz="700" spc="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and</a:t>
            </a:r>
            <a:r>
              <a:rPr sz="700" spc="5" dirty="0">
                <a:latin typeface="Arial MT"/>
                <a:cs typeface="Arial MT"/>
              </a:rPr>
              <a:t> </a:t>
            </a:r>
            <a:r>
              <a:rPr sz="700" spc="-25" dirty="0">
                <a:latin typeface="Arial MT"/>
                <a:cs typeface="Arial MT"/>
              </a:rPr>
              <a:t>wastes</a:t>
            </a:r>
            <a:r>
              <a:rPr sz="700" spc="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energy.</a:t>
            </a:r>
            <a:endParaRPr sz="700">
              <a:latin typeface="Arial MT"/>
              <a:cs typeface="Arial MT"/>
            </a:endParaRPr>
          </a:p>
          <a:p>
            <a:pPr marL="227329" marR="140970">
              <a:lnSpc>
                <a:spcPts val="800"/>
              </a:lnSpc>
              <a:spcBef>
                <a:spcPts val="275"/>
              </a:spcBef>
            </a:pPr>
            <a:r>
              <a:rPr sz="700" b="1" spc="-25" dirty="0">
                <a:latin typeface="Arial"/>
                <a:cs typeface="Arial"/>
              </a:rPr>
              <a:t>Energy</a:t>
            </a:r>
            <a:r>
              <a:rPr sz="700" b="1" spc="60" dirty="0">
                <a:latin typeface="Arial"/>
                <a:cs typeface="Arial"/>
              </a:rPr>
              <a:t> </a:t>
            </a:r>
            <a:r>
              <a:rPr sz="700" b="1" spc="-25" dirty="0">
                <a:latin typeface="Arial"/>
                <a:cs typeface="Arial"/>
              </a:rPr>
              <a:t>Challenge</a:t>
            </a:r>
            <a:r>
              <a:rPr sz="700" b="1" spc="60" dirty="0">
                <a:latin typeface="Arial"/>
                <a:cs typeface="Arial"/>
              </a:rPr>
              <a:t> </a:t>
            </a:r>
            <a:r>
              <a:rPr sz="700" b="1" dirty="0">
                <a:latin typeface="Arial"/>
                <a:cs typeface="Arial"/>
              </a:rPr>
              <a:t>:</a:t>
            </a:r>
            <a:r>
              <a:rPr sz="700" b="1" spc="140" dirty="0">
                <a:latin typeface="Arial"/>
                <a:cs typeface="Arial"/>
              </a:rPr>
              <a:t> </a:t>
            </a:r>
            <a:r>
              <a:rPr sz="700" dirty="0">
                <a:latin typeface="Arial MT"/>
                <a:cs typeface="Arial MT"/>
              </a:rPr>
              <a:t>For</a:t>
            </a:r>
            <a:r>
              <a:rPr sz="700" spc="50" dirty="0">
                <a:latin typeface="Arial MT"/>
                <a:cs typeface="Arial MT"/>
              </a:rPr>
              <a:t> </a:t>
            </a:r>
            <a:r>
              <a:rPr sz="700" spc="-20" dirty="0">
                <a:latin typeface="Arial MT"/>
                <a:cs typeface="Arial MT"/>
              </a:rPr>
              <a:t>data-</a:t>
            </a:r>
            <a:r>
              <a:rPr sz="700" dirty="0">
                <a:latin typeface="Arial MT"/>
                <a:cs typeface="Arial MT"/>
              </a:rPr>
              <a:t>heavy</a:t>
            </a:r>
            <a:r>
              <a:rPr sz="700" spc="5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tasks</a:t>
            </a:r>
            <a:r>
              <a:rPr sz="700" spc="5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(e.g.,</a:t>
            </a:r>
            <a:r>
              <a:rPr sz="700" spc="5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AI,</a:t>
            </a:r>
            <a:r>
              <a:rPr sz="700" spc="5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ML),</a:t>
            </a:r>
            <a:r>
              <a:rPr sz="700" spc="5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this</a:t>
            </a:r>
            <a:r>
              <a:rPr sz="700" spc="50" dirty="0">
                <a:latin typeface="Arial MT"/>
                <a:cs typeface="Arial MT"/>
              </a:rPr>
              <a:t> </a:t>
            </a:r>
            <a:r>
              <a:rPr sz="700" spc="-20" dirty="0">
                <a:latin typeface="Arial MT"/>
                <a:cs typeface="Arial MT"/>
              </a:rPr>
              <a:t>back-</a:t>
            </a:r>
            <a:r>
              <a:rPr sz="700" spc="-10" dirty="0">
                <a:latin typeface="Arial MT"/>
                <a:cs typeface="Arial MT"/>
              </a:rPr>
              <a:t>and-</a:t>
            </a:r>
            <a:r>
              <a:rPr sz="700" dirty="0">
                <a:latin typeface="Arial MT"/>
                <a:cs typeface="Arial MT"/>
              </a:rPr>
              <a:t>forth</a:t>
            </a:r>
            <a:r>
              <a:rPr sz="700" spc="50" dirty="0">
                <a:latin typeface="Arial MT"/>
                <a:cs typeface="Arial MT"/>
              </a:rPr>
              <a:t> </a:t>
            </a:r>
            <a:r>
              <a:rPr sz="700" spc="-30" dirty="0">
                <a:latin typeface="Arial MT"/>
                <a:cs typeface="Arial MT"/>
              </a:rPr>
              <a:t>consumes</a:t>
            </a:r>
            <a:r>
              <a:rPr sz="700" spc="50" dirty="0">
                <a:latin typeface="Arial MT"/>
                <a:cs typeface="Arial MT"/>
              </a:rPr>
              <a:t> </a:t>
            </a:r>
            <a:r>
              <a:rPr sz="700" spc="-20" dirty="0">
                <a:latin typeface="Arial MT"/>
                <a:cs typeface="Arial MT"/>
              </a:rPr>
              <a:t>enormous</a:t>
            </a:r>
            <a:r>
              <a:rPr sz="700" spc="50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energy.</a:t>
            </a:r>
            <a:endParaRPr sz="700">
              <a:latin typeface="Arial MT"/>
              <a:cs typeface="Arial MT"/>
            </a:endParaRPr>
          </a:p>
          <a:p>
            <a:pPr marL="227329" marR="5080">
              <a:lnSpc>
                <a:spcPts val="800"/>
              </a:lnSpc>
              <a:spcBef>
                <a:spcPts val="280"/>
              </a:spcBef>
            </a:pPr>
            <a:r>
              <a:rPr sz="700" b="1" dirty="0">
                <a:latin typeface="Arial"/>
                <a:cs typeface="Arial"/>
              </a:rPr>
              <a:t>Need</a:t>
            </a:r>
            <a:r>
              <a:rPr sz="700" b="1" spc="30" dirty="0">
                <a:latin typeface="Arial"/>
                <a:cs typeface="Arial"/>
              </a:rPr>
              <a:t> </a:t>
            </a:r>
            <a:r>
              <a:rPr sz="700" b="1" dirty="0">
                <a:latin typeface="Arial"/>
                <a:cs typeface="Arial"/>
              </a:rPr>
              <a:t>for</a:t>
            </a:r>
            <a:r>
              <a:rPr sz="700" b="1" spc="30" dirty="0">
                <a:latin typeface="Arial"/>
                <a:cs typeface="Arial"/>
              </a:rPr>
              <a:t> </a:t>
            </a:r>
            <a:r>
              <a:rPr sz="700" b="1" dirty="0">
                <a:latin typeface="Arial"/>
                <a:cs typeface="Arial"/>
              </a:rPr>
              <a:t>In-Memory</a:t>
            </a:r>
            <a:r>
              <a:rPr sz="700" b="1" spc="30" dirty="0">
                <a:latin typeface="Arial"/>
                <a:cs typeface="Arial"/>
              </a:rPr>
              <a:t> </a:t>
            </a:r>
            <a:r>
              <a:rPr sz="700" b="1" spc="-20" dirty="0">
                <a:latin typeface="Arial"/>
                <a:cs typeface="Arial"/>
              </a:rPr>
              <a:t>Computing:</a:t>
            </a:r>
            <a:r>
              <a:rPr sz="700" b="1" spc="105" dirty="0">
                <a:latin typeface="Arial"/>
                <a:cs typeface="Arial"/>
              </a:rPr>
              <a:t> </a:t>
            </a:r>
            <a:r>
              <a:rPr sz="700" dirty="0">
                <a:latin typeface="Arial MT"/>
                <a:cs typeface="Arial MT"/>
              </a:rPr>
              <a:t>To</a:t>
            </a:r>
            <a:r>
              <a:rPr sz="700" spc="20" dirty="0">
                <a:latin typeface="Arial MT"/>
                <a:cs typeface="Arial MT"/>
              </a:rPr>
              <a:t> </a:t>
            </a:r>
            <a:r>
              <a:rPr sz="700" spc="-20" dirty="0">
                <a:latin typeface="Arial MT"/>
                <a:cs typeface="Arial MT"/>
              </a:rPr>
              <a:t>solve</a:t>
            </a:r>
            <a:r>
              <a:rPr sz="700" spc="2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this,</a:t>
            </a:r>
            <a:r>
              <a:rPr sz="700" spc="2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computation</a:t>
            </a:r>
            <a:r>
              <a:rPr sz="700" spc="2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must</a:t>
            </a:r>
            <a:r>
              <a:rPr sz="700" spc="2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happen</a:t>
            </a:r>
            <a:r>
              <a:rPr sz="700" spc="2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inside</a:t>
            </a:r>
            <a:r>
              <a:rPr sz="700" spc="2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the</a:t>
            </a:r>
            <a:r>
              <a:rPr sz="700" spc="2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memory</a:t>
            </a:r>
            <a:r>
              <a:rPr sz="700" spc="2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itself,</a:t>
            </a:r>
            <a:r>
              <a:rPr sz="700" spc="50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reducing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data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movement</a:t>
            </a:r>
            <a:r>
              <a:rPr sz="700" spc="1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and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improving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efficiency.</a:t>
            </a: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800" b="1" spc="-10" dirty="0">
                <a:latin typeface="Arial"/>
                <a:cs typeface="Arial"/>
              </a:rPr>
              <a:t>Motivation</a:t>
            </a:r>
            <a:endParaRPr sz="800">
              <a:latin typeface="Arial"/>
              <a:cs typeface="Arial"/>
            </a:endParaRPr>
          </a:p>
          <a:p>
            <a:pPr marL="227329" marR="203835">
              <a:lnSpc>
                <a:spcPts val="800"/>
              </a:lnSpc>
              <a:spcBef>
                <a:spcPts val="760"/>
              </a:spcBef>
            </a:pPr>
            <a:r>
              <a:rPr sz="700" dirty="0">
                <a:latin typeface="Arial MT"/>
                <a:cs typeface="Arial MT"/>
              </a:rPr>
              <a:t>By</a:t>
            </a:r>
            <a:r>
              <a:rPr sz="700" spc="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developing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memtransistor-based</a:t>
            </a:r>
            <a:r>
              <a:rPr sz="700" spc="5" dirty="0">
                <a:latin typeface="Arial MT"/>
                <a:cs typeface="Arial MT"/>
              </a:rPr>
              <a:t> </a:t>
            </a:r>
            <a:r>
              <a:rPr sz="700" spc="-20" dirty="0">
                <a:latin typeface="Arial MT"/>
                <a:cs typeface="Arial MT"/>
              </a:rPr>
              <a:t>systems,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we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can</a:t>
            </a:r>
            <a:r>
              <a:rPr sz="700" spc="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enable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faster,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smarter,</a:t>
            </a:r>
            <a:r>
              <a:rPr sz="700" spc="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and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spc="-20" dirty="0">
                <a:latin typeface="Arial MT"/>
                <a:cs typeface="Arial MT"/>
              </a:rPr>
              <a:t>energy-</a:t>
            </a:r>
            <a:r>
              <a:rPr sz="700" spc="-10" dirty="0">
                <a:latin typeface="Arial MT"/>
                <a:cs typeface="Arial MT"/>
              </a:rPr>
              <a:t>efficient</a:t>
            </a:r>
            <a:r>
              <a:rPr sz="700" spc="50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electronics</a:t>
            </a:r>
            <a:r>
              <a:rPr sz="700" spc="6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for</a:t>
            </a:r>
            <a:r>
              <a:rPr sz="700" spc="6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future</a:t>
            </a:r>
            <a:r>
              <a:rPr sz="700" spc="6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AI</a:t>
            </a:r>
            <a:r>
              <a:rPr sz="700" spc="6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and</a:t>
            </a:r>
            <a:r>
              <a:rPr sz="700" spc="6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IoT</a:t>
            </a:r>
            <a:r>
              <a:rPr sz="700" spc="6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applications.</a:t>
            </a:r>
            <a:endParaRPr sz="700">
              <a:latin typeface="Arial MT"/>
              <a:cs typeface="Arial MT"/>
            </a:endParaRPr>
          </a:p>
          <a:p>
            <a:pPr marL="227329" marR="312420">
              <a:lnSpc>
                <a:spcPts val="1360"/>
              </a:lnSpc>
              <a:spcBef>
                <a:spcPts val="114"/>
              </a:spcBef>
            </a:pPr>
            <a:r>
              <a:rPr sz="700" dirty="0">
                <a:latin typeface="Arial MT"/>
                <a:cs typeface="Arial MT"/>
              </a:rPr>
              <a:t>High</a:t>
            </a:r>
            <a:r>
              <a:rPr sz="700" spc="5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Scalability</a:t>
            </a:r>
            <a:r>
              <a:rPr sz="700" spc="5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:</a:t>
            </a:r>
            <a:r>
              <a:rPr sz="700" spc="14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The</a:t>
            </a:r>
            <a:r>
              <a:rPr sz="700" spc="50" dirty="0">
                <a:latin typeface="Arial MT"/>
                <a:cs typeface="Arial MT"/>
              </a:rPr>
              <a:t> </a:t>
            </a:r>
            <a:r>
              <a:rPr sz="700" spc="-25" dirty="0">
                <a:latin typeface="Arial MT"/>
                <a:cs typeface="Arial MT"/>
              </a:rPr>
              <a:t>use</a:t>
            </a:r>
            <a:r>
              <a:rPr sz="700" spc="5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of</a:t>
            </a:r>
            <a:r>
              <a:rPr sz="700" spc="5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atomically</a:t>
            </a:r>
            <a:r>
              <a:rPr sz="700" spc="5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thin</a:t>
            </a:r>
            <a:r>
              <a:rPr sz="700" spc="5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MoS2</a:t>
            </a:r>
            <a:r>
              <a:rPr sz="700" spc="5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allows</a:t>
            </a:r>
            <a:r>
              <a:rPr sz="700" spc="5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for</a:t>
            </a:r>
            <a:r>
              <a:rPr sz="700" spc="50" dirty="0">
                <a:latin typeface="Arial MT"/>
                <a:cs typeface="Arial MT"/>
              </a:rPr>
              <a:t> </a:t>
            </a:r>
            <a:r>
              <a:rPr sz="700" spc="-30" dirty="0">
                <a:latin typeface="Arial MT"/>
                <a:cs typeface="Arial MT"/>
              </a:rPr>
              <a:t>aggressive</a:t>
            </a:r>
            <a:r>
              <a:rPr sz="700" spc="5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dimensional</a:t>
            </a:r>
            <a:r>
              <a:rPr sz="700" spc="5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scaling.</a:t>
            </a:r>
            <a:r>
              <a:rPr sz="700" spc="50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Brain-</a:t>
            </a:r>
            <a:r>
              <a:rPr sz="700" dirty="0">
                <a:latin typeface="Arial MT"/>
                <a:cs typeface="Arial MT"/>
              </a:rPr>
              <a:t>inspired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neuromorphic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computing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for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applications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like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real-</a:t>
            </a:r>
            <a:r>
              <a:rPr sz="700" dirty="0">
                <a:latin typeface="Arial MT"/>
                <a:cs typeface="Arial MT"/>
              </a:rPr>
              <a:t>time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spc="-20" dirty="0">
                <a:latin typeface="Arial MT"/>
                <a:cs typeface="Arial MT"/>
              </a:rPr>
              <a:t>seizure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detection.</a:t>
            </a:r>
            <a:endParaRPr sz="700">
              <a:latin typeface="Arial MT"/>
              <a:cs typeface="Arial MT"/>
            </a:endParaRPr>
          </a:p>
          <a:p>
            <a:pPr marL="227329" marR="56515">
              <a:lnSpc>
                <a:spcPts val="800"/>
              </a:lnSpc>
              <a:spcBef>
                <a:spcPts val="455"/>
              </a:spcBef>
            </a:pPr>
            <a:r>
              <a:rPr sz="700" dirty="0">
                <a:latin typeface="Arial MT"/>
                <a:cs typeface="Arial MT"/>
              </a:rPr>
              <a:t>Chip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Fingerprints</a:t>
            </a:r>
            <a:r>
              <a:rPr sz="700" spc="4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(PUFs):</a:t>
            </a:r>
            <a:r>
              <a:rPr sz="700" spc="12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Tiny,</a:t>
            </a:r>
            <a:r>
              <a:rPr sz="700" spc="4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unavoidable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variations</a:t>
            </a:r>
            <a:r>
              <a:rPr sz="700" spc="4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during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the</a:t>
            </a:r>
            <a:r>
              <a:rPr sz="700" spc="4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manufacturing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of</a:t>
            </a:r>
            <a:r>
              <a:rPr sz="700" spc="4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MoS2</a:t>
            </a:r>
            <a:r>
              <a:rPr sz="700" spc="3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create</a:t>
            </a:r>
            <a:r>
              <a:rPr sz="700" spc="40" dirty="0">
                <a:latin typeface="Arial MT"/>
                <a:cs typeface="Arial MT"/>
              </a:rPr>
              <a:t> </a:t>
            </a:r>
            <a:r>
              <a:rPr sz="700" spc="-50" dirty="0">
                <a:latin typeface="Arial MT"/>
                <a:cs typeface="Arial MT"/>
              </a:rPr>
              <a:t>a</a:t>
            </a:r>
            <a:r>
              <a:rPr sz="700" spc="50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unique</a:t>
            </a:r>
            <a:r>
              <a:rPr sz="700" spc="5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physical</a:t>
            </a:r>
            <a:r>
              <a:rPr sz="700" spc="5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”fingerprint”</a:t>
            </a:r>
            <a:r>
              <a:rPr sz="700" spc="5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for</a:t>
            </a:r>
            <a:r>
              <a:rPr sz="700" spc="5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every</a:t>
            </a:r>
            <a:r>
              <a:rPr sz="700" spc="5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single</a:t>
            </a:r>
            <a:r>
              <a:rPr sz="700" spc="5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chip.</a:t>
            </a:r>
            <a:r>
              <a:rPr sz="700" spc="15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This</a:t>
            </a:r>
            <a:r>
              <a:rPr sz="700" spc="5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identity</a:t>
            </a:r>
            <a:r>
              <a:rPr sz="700" spc="5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is</a:t>
            </a:r>
            <a:r>
              <a:rPr sz="700" spc="5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impossible</a:t>
            </a:r>
            <a:r>
              <a:rPr sz="700" spc="5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to</a:t>
            </a:r>
            <a:r>
              <a:rPr sz="700" spc="6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clone,</a:t>
            </a:r>
            <a:r>
              <a:rPr sz="700" spc="5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preventing</a:t>
            </a:r>
            <a:r>
              <a:rPr sz="700" spc="50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counterfeit</a:t>
            </a:r>
            <a:r>
              <a:rPr sz="700" spc="8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copies.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120">
              <a:lnSpc>
                <a:spcPts val="580"/>
              </a:lnSpc>
            </a:pPr>
            <a:fld id="{81D60167-4931-47E6-BA6A-407CBD079E47}" type="slidenum">
              <a:rPr spc="-20" dirty="0"/>
              <a:pPr marL="71120">
                <a:lnSpc>
                  <a:spcPts val="580"/>
                </a:lnSpc>
              </a:pPr>
              <a:t>4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50" dirty="0"/>
              <a:t> </a:t>
            </a:r>
            <a:r>
              <a:rPr spc="-25" dirty="0"/>
              <a:t>17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290830"/>
          </a:xfrm>
          <a:custGeom>
            <a:avLst/>
            <a:gdLst/>
            <a:ahLst/>
            <a:cxnLst/>
            <a:rect l="l" t="t" r="r" b="b"/>
            <a:pathLst>
              <a:path w="4608195" h="290830">
                <a:moveTo>
                  <a:pt x="4608004" y="0"/>
                </a:moveTo>
                <a:lnTo>
                  <a:pt x="0" y="0"/>
                </a:lnTo>
                <a:lnTo>
                  <a:pt x="0" y="290233"/>
                </a:lnTo>
                <a:lnTo>
                  <a:pt x="4608004" y="290233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47014"/>
            <a:ext cx="10401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20" dirty="0"/>
              <a:t>Literature</a:t>
            </a:r>
            <a:r>
              <a:rPr spc="-15" dirty="0"/>
              <a:t> </a:t>
            </a:r>
            <a:r>
              <a:rPr spc="-40" dirty="0"/>
              <a:t>Review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183" y="551573"/>
            <a:ext cx="47688" cy="4768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1183" y="827976"/>
            <a:ext cx="47688" cy="4768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1183" y="1298994"/>
            <a:ext cx="47688" cy="4768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1183" y="1575384"/>
            <a:ext cx="47688" cy="4768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1183" y="1731594"/>
            <a:ext cx="47688" cy="4768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21183" y="1887791"/>
            <a:ext cx="47688" cy="4768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94843" y="289355"/>
            <a:ext cx="4403725" cy="16821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latin typeface="Arial"/>
                <a:cs typeface="Arial"/>
              </a:rPr>
              <a:t>Working</a:t>
            </a:r>
            <a:r>
              <a:rPr sz="800" b="1" spc="25" dirty="0">
                <a:latin typeface="Arial"/>
                <a:cs typeface="Arial"/>
              </a:rPr>
              <a:t> </a:t>
            </a:r>
            <a:r>
              <a:rPr sz="800" b="1" spc="-25" dirty="0">
                <a:latin typeface="Arial"/>
                <a:cs typeface="Arial"/>
              </a:rPr>
              <a:t>Mechanism</a:t>
            </a:r>
            <a:r>
              <a:rPr sz="800" b="1" spc="25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of</a:t>
            </a:r>
            <a:r>
              <a:rPr sz="800" b="1" spc="30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Memtransistors</a:t>
            </a:r>
            <a:endParaRPr sz="800">
              <a:latin typeface="Arial"/>
              <a:cs typeface="Arial"/>
            </a:endParaRPr>
          </a:p>
          <a:p>
            <a:pPr marL="227329" marR="5080">
              <a:lnSpc>
                <a:spcPts val="950"/>
              </a:lnSpc>
              <a:spcBef>
                <a:spcPts val="645"/>
              </a:spcBef>
            </a:pPr>
            <a:r>
              <a:rPr sz="800" dirty="0">
                <a:latin typeface="Arial MT"/>
                <a:cs typeface="Arial MT"/>
              </a:rPr>
              <a:t>Operate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mainly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through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charge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trapping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at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MoS2/oxide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interface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in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oxide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near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interface </a:t>
            </a:r>
            <a:r>
              <a:rPr sz="800" dirty="0">
                <a:latin typeface="Arial MT"/>
                <a:cs typeface="Arial MT"/>
              </a:rPr>
              <a:t>(storing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30" dirty="0">
                <a:latin typeface="Arial MT"/>
                <a:cs typeface="Arial MT"/>
              </a:rPr>
              <a:t>charges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in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traps)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or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resistive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switching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(changing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resistance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states).</a:t>
            </a:r>
            <a:endParaRPr sz="800">
              <a:latin typeface="Arial MT"/>
              <a:cs typeface="Arial MT"/>
            </a:endParaRPr>
          </a:p>
          <a:p>
            <a:pPr marL="227329">
              <a:lnSpc>
                <a:spcPct val="100000"/>
              </a:lnSpc>
              <a:spcBef>
                <a:spcPts val="235"/>
              </a:spcBef>
            </a:pPr>
            <a:r>
              <a:rPr sz="800" spc="-20" dirty="0">
                <a:latin typeface="Arial MT"/>
                <a:cs typeface="Arial MT"/>
              </a:rPr>
              <a:t>These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spc="-30" dirty="0">
                <a:latin typeface="Arial MT"/>
                <a:cs typeface="Arial MT"/>
              </a:rPr>
              <a:t>mechanisms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allow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them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to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store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information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non-volatilely.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800" b="1" spc="-10" dirty="0">
                <a:latin typeface="Arial"/>
                <a:cs typeface="Arial"/>
              </a:rPr>
              <a:t>Role</a:t>
            </a:r>
            <a:r>
              <a:rPr sz="800" b="1" spc="35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of</a:t>
            </a:r>
            <a:r>
              <a:rPr sz="800" b="1" spc="30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2D</a:t>
            </a:r>
            <a:r>
              <a:rPr sz="800" b="1" spc="35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Materials</a:t>
            </a:r>
            <a:endParaRPr sz="800">
              <a:latin typeface="Arial"/>
              <a:cs typeface="Arial"/>
            </a:endParaRPr>
          </a:p>
          <a:p>
            <a:pPr marL="227329" marR="494030">
              <a:lnSpc>
                <a:spcPts val="950"/>
              </a:lnSpc>
              <a:spcBef>
                <a:spcPts val="645"/>
              </a:spcBef>
            </a:pPr>
            <a:r>
              <a:rPr sz="800" dirty="0">
                <a:latin typeface="Arial MT"/>
                <a:cs typeface="Arial MT"/>
              </a:rPr>
              <a:t>Molybdenum</a:t>
            </a:r>
            <a:r>
              <a:rPr sz="800" spc="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Disulfide</a:t>
            </a:r>
            <a:r>
              <a:rPr sz="800" spc="1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(MoS2)</a:t>
            </a:r>
            <a:r>
              <a:rPr sz="800" spc="1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is</a:t>
            </a:r>
            <a:r>
              <a:rPr sz="800" spc="1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one</a:t>
            </a:r>
            <a:r>
              <a:rPr sz="800" spc="1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of</a:t>
            </a:r>
            <a:r>
              <a:rPr sz="800" spc="1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1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most</a:t>
            </a:r>
            <a:r>
              <a:rPr sz="800" spc="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promising</a:t>
            </a:r>
            <a:r>
              <a:rPr sz="800" spc="1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channel</a:t>
            </a:r>
            <a:r>
              <a:rPr sz="800" spc="1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materials</a:t>
            </a:r>
            <a:r>
              <a:rPr sz="800" spc="15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for</a:t>
            </a:r>
            <a:r>
              <a:rPr sz="800" spc="-10" dirty="0">
                <a:latin typeface="Arial MT"/>
                <a:cs typeface="Arial MT"/>
              </a:rPr>
              <a:t> memtransistors.</a:t>
            </a:r>
            <a:endParaRPr sz="800">
              <a:latin typeface="Arial MT"/>
              <a:cs typeface="Arial MT"/>
            </a:endParaRPr>
          </a:p>
          <a:p>
            <a:pPr marL="227329" marR="1043940">
              <a:lnSpc>
                <a:spcPts val="1230"/>
              </a:lnSpc>
              <a:spcBef>
                <a:spcPts val="50"/>
              </a:spcBef>
            </a:pPr>
            <a:r>
              <a:rPr sz="800" dirty="0">
                <a:latin typeface="Arial MT"/>
                <a:cs typeface="Arial MT"/>
              </a:rPr>
              <a:t>Its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atomically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thin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structure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spc="-30" dirty="0">
                <a:latin typeface="Arial MT"/>
                <a:cs typeface="Arial MT"/>
              </a:rPr>
              <a:t>makes</a:t>
            </a:r>
            <a:r>
              <a:rPr sz="800" spc="50" dirty="0">
                <a:latin typeface="Arial MT"/>
                <a:cs typeface="Arial MT"/>
              </a:rPr>
              <a:t> it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suitable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for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ultra-</a:t>
            </a:r>
            <a:r>
              <a:rPr sz="800" dirty="0">
                <a:latin typeface="Arial MT"/>
                <a:cs typeface="Arial MT"/>
              </a:rPr>
              <a:t>scaled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devices.</a:t>
            </a:r>
            <a:r>
              <a:rPr sz="800" dirty="0">
                <a:latin typeface="Arial MT"/>
                <a:cs typeface="Arial MT"/>
              </a:rPr>
              <a:t> MoS2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is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only</a:t>
            </a:r>
            <a:r>
              <a:rPr sz="800" spc="3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0.7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nm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thick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(monolayer).</a:t>
            </a:r>
            <a:endParaRPr sz="800">
              <a:latin typeface="Arial MT"/>
              <a:cs typeface="Arial MT"/>
            </a:endParaRPr>
          </a:p>
          <a:p>
            <a:pPr marL="227329">
              <a:lnSpc>
                <a:spcPct val="100000"/>
              </a:lnSpc>
              <a:spcBef>
                <a:spcPts val="185"/>
              </a:spcBef>
            </a:pPr>
            <a:r>
              <a:rPr sz="800" spc="-25" dirty="0">
                <a:latin typeface="Arial MT"/>
                <a:cs typeface="Arial MT"/>
              </a:rPr>
              <a:t>Enables</a:t>
            </a:r>
            <a:r>
              <a:rPr sz="800" spc="1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smaller</a:t>
            </a:r>
            <a:r>
              <a:rPr sz="800" spc="1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15" dirty="0">
                <a:latin typeface="Arial MT"/>
                <a:cs typeface="Arial MT"/>
              </a:rPr>
              <a:t> </a:t>
            </a:r>
            <a:r>
              <a:rPr sz="800" spc="-30" dirty="0">
                <a:latin typeface="Arial MT"/>
                <a:cs typeface="Arial MT"/>
              </a:rPr>
              <a:t>denser</a:t>
            </a:r>
            <a:r>
              <a:rPr sz="800" spc="15" dirty="0">
                <a:latin typeface="Arial MT"/>
                <a:cs typeface="Arial MT"/>
              </a:rPr>
              <a:t> </a:t>
            </a:r>
            <a:r>
              <a:rPr sz="800" spc="-30" dirty="0">
                <a:latin typeface="Arial MT"/>
                <a:cs typeface="Arial MT"/>
              </a:rPr>
              <a:t>devices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compared</a:t>
            </a:r>
            <a:r>
              <a:rPr sz="800" spc="1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to</a:t>
            </a:r>
            <a:r>
              <a:rPr sz="800" spc="1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silicon.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25435" y="2014631"/>
            <a:ext cx="1679473" cy="99140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577746" y="3113547"/>
            <a:ext cx="142049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sz="700" spc="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Trapping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and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Detrapping[3]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120">
              <a:lnSpc>
                <a:spcPts val="580"/>
              </a:lnSpc>
            </a:pPr>
            <a:fld id="{81D60167-4931-47E6-BA6A-407CBD079E47}" type="slidenum">
              <a:rPr spc="-20" dirty="0"/>
              <a:pPr marL="71120">
                <a:lnSpc>
                  <a:spcPts val="580"/>
                </a:lnSpc>
              </a:pPr>
              <a:t>5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50" dirty="0"/>
              <a:t> </a:t>
            </a:r>
            <a:r>
              <a:rPr spc="-25" dirty="0"/>
              <a:t>17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290830"/>
          </a:xfrm>
          <a:custGeom>
            <a:avLst/>
            <a:gdLst/>
            <a:ahLst/>
            <a:cxnLst/>
            <a:rect l="l" t="t" r="r" b="b"/>
            <a:pathLst>
              <a:path w="4608195" h="290830">
                <a:moveTo>
                  <a:pt x="4608004" y="0"/>
                </a:moveTo>
                <a:lnTo>
                  <a:pt x="0" y="0"/>
                </a:lnTo>
                <a:lnTo>
                  <a:pt x="0" y="290233"/>
                </a:lnTo>
                <a:lnTo>
                  <a:pt x="4608004" y="290233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47014"/>
            <a:ext cx="3441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Cont.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4843" y="301154"/>
            <a:ext cx="4147185" cy="2673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955"/>
              </a:lnSpc>
              <a:spcBef>
                <a:spcPts val="95"/>
              </a:spcBef>
            </a:pPr>
            <a:r>
              <a:rPr sz="800" b="1" spc="-25" dirty="0">
                <a:latin typeface="Arial"/>
                <a:cs typeface="Arial"/>
              </a:rPr>
              <a:t>Hardware</a:t>
            </a:r>
            <a:r>
              <a:rPr sz="800" b="1" spc="15" dirty="0">
                <a:latin typeface="Arial"/>
                <a:cs typeface="Arial"/>
              </a:rPr>
              <a:t> </a:t>
            </a:r>
            <a:r>
              <a:rPr sz="800" b="1" spc="-20" dirty="0">
                <a:latin typeface="Arial"/>
                <a:cs typeface="Arial"/>
              </a:rPr>
              <a:t>implementation</a:t>
            </a:r>
            <a:r>
              <a:rPr sz="800" b="1" spc="20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of</a:t>
            </a:r>
            <a:r>
              <a:rPr sz="800" b="1" spc="20" dirty="0">
                <a:latin typeface="Arial"/>
                <a:cs typeface="Arial"/>
              </a:rPr>
              <a:t> </a:t>
            </a:r>
            <a:r>
              <a:rPr sz="800" b="1" spc="-45" dirty="0">
                <a:latin typeface="Arial"/>
                <a:cs typeface="Arial"/>
              </a:rPr>
              <a:t>Bayesian</a:t>
            </a:r>
            <a:r>
              <a:rPr sz="800" b="1" spc="20" dirty="0">
                <a:latin typeface="Arial"/>
                <a:cs typeface="Arial"/>
              </a:rPr>
              <a:t> </a:t>
            </a:r>
            <a:r>
              <a:rPr sz="800" b="1" spc="-25" dirty="0">
                <a:latin typeface="Arial"/>
                <a:cs typeface="Arial"/>
              </a:rPr>
              <a:t>network</a:t>
            </a:r>
            <a:r>
              <a:rPr sz="800" b="1" spc="25" dirty="0">
                <a:latin typeface="Arial"/>
                <a:cs typeface="Arial"/>
              </a:rPr>
              <a:t> </a:t>
            </a:r>
            <a:r>
              <a:rPr sz="800" b="1" spc="-45" dirty="0">
                <a:latin typeface="Arial"/>
                <a:cs typeface="Arial"/>
              </a:rPr>
              <a:t>based</a:t>
            </a:r>
            <a:r>
              <a:rPr sz="800" b="1" spc="20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on</a:t>
            </a:r>
            <a:r>
              <a:rPr sz="800" b="1" spc="20" dirty="0">
                <a:latin typeface="Arial"/>
                <a:cs typeface="Arial"/>
              </a:rPr>
              <a:t> </a:t>
            </a:r>
            <a:r>
              <a:rPr sz="800" b="1" spc="-30" dirty="0">
                <a:latin typeface="Arial"/>
                <a:cs typeface="Arial"/>
              </a:rPr>
              <a:t>two-</a:t>
            </a:r>
            <a:r>
              <a:rPr sz="800" b="1" spc="-35" dirty="0">
                <a:latin typeface="Arial"/>
                <a:cs typeface="Arial"/>
              </a:rPr>
              <a:t>dimensional</a:t>
            </a:r>
            <a:r>
              <a:rPr sz="800" b="1" spc="20" dirty="0">
                <a:latin typeface="Arial"/>
                <a:cs typeface="Arial"/>
              </a:rPr>
              <a:t> </a:t>
            </a:r>
            <a:r>
              <a:rPr sz="800" b="1" spc="-30" dirty="0">
                <a:latin typeface="Arial"/>
                <a:cs typeface="Arial"/>
              </a:rPr>
              <a:t>memtransistors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955"/>
              </a:lnSpc>
            </a:pPr>
            <a:r>
              <a:rPr sz="800" dirty="0">
                <a:latin typeface="Arial MT"/>
                <a:cs typeface="Arial MT"/>
              </a:rPr>
              <a:t>(Publication:</a:t>
            </a:r>
            <a:r>
              <a:rPr sz="800" spc="17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Nature</a:t>
            </a:r>
            <a:r>
              <a:rPr sz="800" spc="7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Communications</a:t>
            </a:r>
            <a:r>
              <a:rPr sz="800" spc="7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(2022)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965" y="646564"/>
            <a:ext cx="1242473" cy="114323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4843" y="1878320"/>
            <a:ext cx="1339215" cy="435609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800"/>
              </a:lnSpc>
              <a:spcBef>
                <a:spcPts val="155"/>
              </a:spcBef>
            </a:pPr>
            <a:r>
              <a:rPr sz="700" dirty="0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sz="700" spc="1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Transfer</a:t>
            </a:r>
            <a:r>
              <a:rPr sz="700" spc="2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characteristics,</a:t>
            </a:r>
            <a:r>
              <a:rPr sz="700" spc="50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i.e.,</a:t>
            </a:r>
            <a:r>
              <a:rPr sz="700" spc="4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source-to-</a:t>
            </a:r>
            <a:r>
              <a:rPr sz="700" dirty="0">
                <a:latin typeface="Arial MT"/>
                <a:cs typeface="Arial MT"/>
              </a:rPr>
              <a:t>drain</a:t>
            </a:r>
            <a:r>
              <a:rPr sz="700" spc="4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current</a:t>
            </a:r>
            <a:r>
              <a:rPr sz="700" spc="50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(IDS)</a:t>
            </a:r>
            <a:r>
              <a:rPr sz="700" spc="9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vs(VBG),</a:t>
            </a:r>
            <a:r>
              <a:rPr sz="700" spc="9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(VDS)</a:t>
            </a:r>
            <a:r>
              <a:rPr sz="700" spc="9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of</a:t>
            </a:r>
            <a:r>
              <a:rPr sz="700" spc="9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1</a:t>
            </a:r>
            <a:r>
              <a:rPr sz="700" spc="9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V,</a:t>
            </a:r>
            <a:r>
              <a:rPr sz="700" spc="90" dirty="0">
                <a:latin typeface="Arial MT"/>
                <a:cs typeface="Arial MT"/>
              </a:rPr>
              <a:t> </a:t>
            </a:r>
            <a:r>
              <a:rPr sz="700" spc="-25" dirty="0">
                <a:latin typeface="Arial MT"/>
                <a:cs typeface="Arial MT"/>
              </a:rPr>
              <a:t>in</a:t>
            </a:r>
            <a:endParaRPr sz="700">
              <a:latin typeface="Arial MT"/>
              <a:cs typeface="Arial MT"/>
            </a:endParaRPr>
          </a:p>
          <a:p>
            <a:pPr marL="12700">
              <a:lnSpc>
                <a:spcPts val="770"/>
              </a:lnSpc>
            </a:pPr>
            <a:r>
              <a:rPr sz="700" dirty="0">
                <a:latin typeface="Arial MT"/>
                <a:cs typeface="Arial MT"/>
              </a:rPr>
              <a:t>linear</a:t>
            </a:r>
            <a:r>
              <a:rPr sz="700" spc="2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and</a:t>
            </a:r>
            <a:r>
              <a:rPr sz="700" spc="2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logarithmic</a:t>
            </a:r>
            <a:r>
              <a:rPr sz="700" spc="2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scale[1]</a:t>
            </a:r>
            <a:endParaRPr sz="7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3058" y="826880"/>
            <a:ext cx="1952893" cy="86001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596542" y="1801878"/>
            <a:ext cx="1690370" cy="334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819"/>
              </a:lnSpc>
              <a:spcBef>
                <a:spcPts val="95"/>
              </a:spcBef>
            </a:pPr>
            <a:r>
              <a:rPr sz="700" dirty="0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sz="700" spc="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Id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vs</a:t>
            </a:r>
            <a:r>
              <a:rPr sz="700" spc="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Vgs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post</a:t>
            </a:r>
            <a:r>
              <a:rPr sz="700" spc="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programming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pulse</a:t>
            </a:r>
            <a:endParaRPr sz="700">
              <a:latin typeface="Arial MT"/>
              <a:cs typeface="Arial MT"/>
            </a:endParaRPr>
          </a:p>
          <a:p>
            <a:pPr marL="12700" marR="5080">
              <a:lnSpc>
                <a:spcPts val="800"/>
              </a:lnSpc>
              <a:spcBef>
                <a:spcPts val="40"/>
              </a:spcBef>
            </a:pPr>
            <a:r>
              <a:rPr sz="700" spc="-10" dirty="0">
                <a:latin typeface="Arial MT"/>
                <a:cs typeface="Arial MT"/>
              </a:rPr>
              <a:t>.Experimentalresult</a:t>
            </a:r>
            <a:r>
              <a:rPr sz="700" spc="3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Log</a:t>
            </a:r>
            <a:r>
              <a:rPr sz="700" spc="3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scale(X</a:t>
            </a:r>
            <a:r>
              <a:rPr sz="700" spc="3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axis:</a:t>
            </a:r>
            <a:r>
              <a:rPr sz="700" spc="114" dirty="0">
                <a:latin typeface="Arial MT"/>
                <a:cs typeface="Arial MT"/>
              </a:rPr>
              <a:t> </a:t>
            </a:r>
            <a:r>
              <a:rPr sz="700" spc="-20" dirty="0">
                <a:latin typeface="Arial MT"/>
                <a:cs typeface="Arial MT"/>
              </a:rPr>
              <a:t>gate</a:t>
            </a:r>
            <a:r>
              <a:rPr sz="700" spc="50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voltage,</a:t>
            </a:r>
            <a:r>
              <a:rPr sz="700" spc="2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Y</a:t>
            </a:r>
            <a:r>
              <a:rPr sz="700" spc="3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axis</a:t>
            </a:r>
            <a:r>
              <a:rPr sz="700" spc="2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Drain</a:t>
            </a:r>
            <a:r>
              <a:rPr sz="700" spc="3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current)[1]</a:t>
            </a:r>
            <a:endParaRPr sz="70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50412" y="915088"/>
            <a:ext cx="850036" cy="70741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609187" y="1711022"/>
            <a:ext cx="703580" cy="3346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800"/>
              </a:lnSpc>
              <a:spcBef>
                <a:spcPts val="155"/>
              </a:spcBef>
            </a:pPr>
            <a:r>
              <a:rPr sz="700" dirty="0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sz="700" spc="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2D-</a:t>
            </a:r>
            <a:r>
              <a:rPr sz="700" spc="-20" dirty="0">
                <a:latin typeface="Arial MT"/>
                <a:cs typeface="Arial MT"/>
              </a:rPr>
              <a:t>MoS2</a:t>
            </a:r>
            <a:r>
              <a:rPr sz="700" spc="50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based</a:t>
            </a:r>
            <a:r>
              <a:rPr sz="700" spc="50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Memtransistor[1]</a:t>
            </a:r>
            <a:endParaRPr sz="700"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1183" y="2613456"/>
            <a:ext cx="47688" cy="4768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09943" y="2515641"/>
            <a:ext cx="4100195" cy="76835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800" spc="-10" dirty="0">
                <a:latin typeface="Arial MT"/>
                <a:cs typeface="Arial MT"/>
              </a:rPr>
              <a:t>Channel:</a:t>
            </a:r>
            <a:r>
              <a:rPr sz="800" spc="11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Monolayer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Molybdenum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Disulfide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(MoS2)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50" dirty="0">
                <a:latin typeface="Arial MT"/>
                <a:cs typeface="Arial MT"/>
              </a:rPr>
              <a:t>.</a:t>
            </a:r>
            <a:endParaRPr sz="800">
              <a:latin typeface="Arial MT"/>
              <a:cs typeface="Arial MT"/>
            </a:endParaRPr>
          </a:p>
          <a:p>
            <a:pPr marL="12700" marR="5080">
              <a:lnSpc>
                <a:spcPts val="950"/>
              </a:lnSpc>
              <a:spcBef>
                <a:spcPts val="305"/>
              </a:spcBef>
            </a:pPr>
            <a:r>
              <a:rPr sz="800" dirty="0">
                <a:latin typeface="Arial MT"/>
                <a:cs typeface="Arial MT"/>
              </a:rPr>
              <a:t>Gate:</a:t>
            </a:r>
            <a:r>
              <a:rPr sz="800" spc="1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local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back-</a:t>
            </a:r>
            <a:r>
              <a:rPr sz="800" dirty="0">
                <a:latin typeface="Arial MT"/>
                <a:cs typeface="Arial MT"/>
              </a:rPr>
              <a:t>gate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structure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with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50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nm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Aluminum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Oxide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(Al2O3)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charge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trapping </a:t>
            </a:r>
            <a:r>
              <a:rPr sz="800" dirty="0">
                <a:latin typeface="Arial MT"/>
                <a:cs typeface="Arial MT"/>
              </a:rPr>
              <a:t>dielectric</a:t>
            </a:r>
            <a:r>
              <a:rPr sz="800" spc="70" dirty="0">
                <a:latin typeface="Arial MT"/>
                <a:cs typeface="Arial MT"/>
              </a:rPr>
              <a:t> </a:t>
            </a:r>
            <a:r>
              <a:rPr sz="800" spc="10" dirty="0">
                <a:latin typeface="Arial MT"/>
                <a:cs typeface="Arial MT"/>
              </a:rPr>
              <a:t>on</a:t>
            </a:r>
            <a:r>
              <a:rPr sz="800" spc="75" dirty="0">
                <a:latin typeface="Arial MT"/>
                <a:cs typeface="Arial MT"/>
              </a:rPr>
              <a:t> </a:t>
            </a:r>
            <a:r>
              <a:rPr sz="800" spc="10" dirty="0">
                <a:latin typeface="Arial MT"/>
                <a:cs typeface="Arial MT"/>
              </a:rPr>
              <a:t>a</a:t>
            </a:r>
            <a:r>
              <a:rPr sz="800" spc="75" dirty="0">
                <a:latin typeface="Arial MT"/>
                <a:cs typeface="Arial MT"/>
              </a:rPr>
              <a:t> </a:t>
            </a:r>
            <a:r>
              <a:rPr sz="800" spc="10" dirty="0">
                <a:latin typeface="Arial MT"/>
                <a:cs typeface="Arial MT"/>
              </a:rPr>
              <a:t>40/30</a:t>
            </a:r>
            <a:r>
              <a:rPr sz="800" spc="75" dirty="0">
                <a:latin typeface="Arial MT"/>
                <a:cs typeface="Arial MT"/>
              </a:rPr>
              <a:t> </a:t>
            </a:r>
            <a:r>
              <a:rPr sz="800" spc="10" dirty="0">
                <a:latin typeface="Arial MT"/>
                <a:cs typeface="Arial MT"/>
              </a:rPr>
              <a:t>nm</a:t>
            </a:r>
            <a:r>
              <a:rPr sz="800" spc="75" dirty="0">
                <a:latin typeface="Arial MT"/>
                <a:cs typeface="Arial MT"/>
              </a:rPr>
              <a:t> </a:t>
            </a:r>
            <a:r>
              <a:rPr sz="800" spc="10" dirty="0">
                <a:latin typeface="Arial MT"/>
                <a:cs typeface="Arial MT"/>
              </a:rPr>
              <a:t>Platinum/Titanium</a:t>
            </a:r>
            <a:r>
              <a:rPr sz="800" spc="75" dirty="0">
                <a:latin typeface="Arial MT"/>
                <a:cs typeface="Arial MT"/>
              </a:rPr>
              <a:t> </a:t>
            </a:r>
            <a:r>
              <a:rPr sz="800" spc="10" dirty="0">
                <a:latin typeface="Arial MT"/>
                <a:cs typeface="Arial MT"/>
              </a:rPr>
              <a:t>Nitride</a:t>
            </a:r>
            <a:r>
              <a:rPr sz="800" spc="70" dirty="0">
                <a:latin typeface="Arial MT"/>
                <a:cs typeface="Arial MT"/>
              </a:rPr>
              <a:t> </a:t>
            </a:r>
            <a:r>
              <a:rPr sz="800" spc="65" dirty="0">
                <a:latin typeface="Arial MT"/>
                <a:cs typeface="Arial MT"/>
              </a:rPr>
              <a:t>(Pt/TiN)</a:t>
            </a:r>
            <a:r>
              <a:rPr sz="800" spc="7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electrode.</a:t>
            </a:r>
            <a:endParaRPr sz="800">
              <a:latin typeface="Arial MT"/>
              <a:cs typeface="Arial MT"/>
            </a:endParaRPr>
          </a:p>
          <a:p>
            <a:pPr marL="12700" marR="876935">
              <a:lnSpc>
                <a:spcPts val="1230"/>
              </a:lnSpc>
              <a:spcBef>
                <a:spcPts val="45"/>
              </a:spcBef>
            </a:pPr>
            <a:r>
              <a:rPr sz="800" dirty="0">
                <a:latin typeface="Arial MT"/>
                <a:cs typeface="Arial MT"/>
              </a:rPr>
              <a:t>Contacts:</a:t>
            </a:r>
            <a:r>
              <a:rPr sz="800" spc="1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Nickel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(Ni)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Gold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(Au)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are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spc="-30" dirty="0">
                <a:latin typeface="Arial MT"/>
                <a:cs typeface="Arial MT"/>
              </a:rPr>
              <a:t>used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for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source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drain. </a:t>
            </a:r>
            <a:r>
              <a:rPr sz="800" dirty="0">
                <a:latin typeface="Arial MT"/>
                <a:cs typeface="Arial MT"/>
              </a:rPr>
              <a:t>Substrate:</a:t>
            </a:r>
            <a:r>
              <a:rPr sz="800" spc="19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90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device</a:t>
            </a:r>
            <a:r>
              <a:rPr sz="800" spc="9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is</a:t>
            </a:r>
            <a:r>
              <a:rPr sz="800" spc="9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built</a:t>
            </a:r>
            <a:r>
              <a:rPr sz="800" spc="9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on</a:t>
            </a:r>
            <a:r>
              <a:rPr sz="800" spc="9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</a:t>
            </a:r>
            <a:r>
              <a:rPr sz="800" spc="9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SiO2/p++-Si</a:t>
            </a:r>
            <a:r>
              <a:rPr sz="800" spc="9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substrate.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1183" y="2769044"/>
            <a:ext cx="47688" cy="4768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21183" y="3044837"/>
            <a:ext cx="47688" cy="4768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21183" y="3200425"/>
            <a:ext cx="47688" cy="47688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spc="-20" dirty="0"/>
              <a:pPr marL="38100">
                <a:lnSpc>
                  <a:spcPts val="580"/>
                </a:lnSpc>
              </a:pPr>
              <a:t>6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17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290830"/>
          </a:xfrm>
          <a:custGeom>
            <a:avLst/>
            <a:gdLst/>
            <a:ahLst/>
            <a:cxnLst/>
            <a:rect l="l" t="t" r="r" b="b"/>
            <a:pathLst>
              <a:path w="4608195" h="290830">
                <a:moveTo>
                  <a:pt x="4608004" y="0"/>
                </a:moveTo>
                <a:lnTo>
                  <a:pt x="0" y="0"/>
                </a:lnTo>
                <a:lnTo>
                  <a:pt x="0" y="290233"/>
                </a:lnTo>
                <a:lnTo>
                  <a:pt x="4608004" y="290233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Dielectric</a:t>
            </a:r>
            <a:r>
              <a:rPr spc="-50" dirty="0"/>
              <a:t> </a:t>
            </a:r>
            <a:r>
              <a:rPr spc="-40" dirty="0"/>
              <a:t>Engineering:</a:t>
            </a:r>
            <a:r>
              <a:rPr spc="50" dirty="0"/>
              <a:t> </a:t>
            </a:r>
            <a:r>
              <a:rPr dirty="0"/>
              <a:t>HfO</a:t>
            </a:r>
            <a:r>
              <a:rPr sz="1200" baseline="-10416" dirty="0">
                <a:latin typeface="Arial MT"/>
                <a:cs typeface="Arial MT"/>
              </a:rPr>
              <a:t>2</a:t>
            </a:r>
            <a:r>
              <a:rPr sz="1200" spc="172" baseline="-10416" dirty="0">
                <a:latin typeface="Arial MT"/>
                <a:cs typeface="Arial MT"/>
              </a:rPr>
              <a:t> </a:t>
            </a:r>
            <a:r>
              <a:rPr sz="1100" dirty="0"/>
              <a:t>vs.</a:t>
            </a:r>
            <a:r>
              <a:rPr sz="1100" spc="55" dirty="0"/>
              <a:t> </a:t>
            </a:r>
            <a:r>
              <a:rPr sz="1100" spc="-20" dirty="0"/>
              <a:t>Al</a:t>
            </a:r>
            <a:r>
              <a:rPr sz="1200" spc="-30" baseline="-10416" dirty="0">
                <a:latin typeface="Arial MT"/>
                <a:cs typeface="Arial MT"/>
              </a:rPr>
              <a:t>2</a:t>
            </a:r>
            <a:r>
              <a:rPr sz="1100" spc="-20" dirty="0"/>
              <a:t>O</a:t>
            </a:r>
            <a:r>
              <a:rPr sz="1200" spc="-30" baseline="-10416" dirty="0">
                <a:latin typeface="Arial MT"/>
                <a:cs typeface="Arial MT"/>
              </a:rPr>
              <a:t>3</a:t>
            </a:r>
            <a:endParaRPr sz="1200" baseline="-10416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183" y="847204"/>
            <a:ext cx="47688" cy="4768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77165" marR="30480">
              <a:lnSpc>
                <a:spcPts val="950"/>
              </a:lnSpc>
              <a:spcBef>
                <a:spcPts val="135"/>
              </a:spcBef>
            </a:pPr>
            <a:r>
              <a:rPr sz="800" b="1" spc="-25" dirty="0">
                <a:solidFill>
                  <a:srgbClr val="000000"/>
                </a:solidFill>
                <a:latin typeface="Arial"/>
                <a:cs typeface="Arial"/>
              </a:rPr>
              <a:t>Stronger</a:t>
            </a:r>
            <a:r>
              <a:rPr sz="800" b="1" spc="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000000"/>
                </a:solidFill>
                <a:latin typeface="Arial"/>
                <a:cs typeface="Arial"/>
              </a:rPr>
              <a:t>Gate</a:t>
            </a:r>
            <a:r>
              <a:rPr sz="800" b="1" spc="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000000"/>
                </a:solidFill>
                <a:latin typeface="Arial"/>
                <a:cs typeface="Arial"/>
              </a:rPr>
              <a:t>Control</a:t>
            </a:r>
            <a:r>
              <a:rPr sz="800" b="1" spc="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000000"/>
                </a:solidFill>
                <a:latin typeface="Arial"/>
                <a:cs typeface="Arial"/>
              </a:rPr>
              <a:t>(High-k</a:t>
            </a:r>
            <a:r>
              <a:rPr sz="800" b="1" spc="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000000"/>
                </a:solidFill>
                <a:latin typeface="Arial"/>
                <a:cs typeface="Arial"/>
              </a:rPr>
              <a:t>Effect):</a:t>
            </a:r>
            <a:r>
              <a:rPr sz="800" b="1" spc="11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00000"/>
                </a:solidFill>
              </a:rPr>
              <a:t>HfO</a:t>
            </a:r>
            <a:r>
              <a:rPr sz="900" baseline="-9259" dirty="0">
                <a:solidFill>
                  <a:srgbClr val="000000"/>
                </a:solidFill>
              </a:rPr>
              <a:t>2</a:t>
            </a:r>
            <a:r>
              <a:rPr sz="900" spc="187" baseline="-9259" dirty="0">
                <a:solidFill>
                  <a:srgbClr val="000000"/>
                </a:solidFill>
              </a:rPr>
              <a:t> </a:t>
            </a:r>
            <a:r>
              <a:rPr sz="800" spc="-60" dirty="0">
                <a:solidFill>
                  <a:srgbClr val="000000"/>
                </a:solidFill>
              </a:rPr>
              <a:t>possesses</a:t>
            </a:r>
            <a:r>
              <a:rPr sz="800" spc="35" dirty="0">
                <a:solidFill>
                  <a:srgbClr val="000000"/>
                </a:solidFill>
              </a:rPr>
              <a:t> </a:t>
            </a:r>
            <a:r>
              <a:rPr sz="800" dirty="0">
                <a:solidFill>
                  <a:srgbClr val="000000"/>
                </a:solidFill>
              </a:rPr>
              <a:t>higher</a:t>
            </a:r>
            <a:r>
              <a:rPr sz="800" spc="35" dirty="0">
                <a:solidFill>
                  <a:srgbClr val="000000"/>
                </a:solidFill>
              </a:rPr>
              <a:t> </a:t>
            </a:r>
            <a:r>
              <a:rPr sz="800" dirty="0">
                <a:solidFill>
                  <a:srgbClr val="000000"/>
                </a:solidFill>
              </a:rPr>
              <a:t>dielectric</a:t>
            </a:r>
            <a:r>
              <a:rPr sz="800" spc="30" dirty="0">
                <a:solidFill>
                  <a:srgbClr val="000000"/>
                </a:solidFill>
              </a:rPr>
              <a:t> </a:t>
            </a:r>
            <a:r>
              <a:rPr sz="800" dirty="0">
                <a:solidFill>
                  <a:srgbClr val="000000"/>
                </a:solidFill>
              </a:rPr>
              <a:t>constant</a:t>
            </a:r>
            <a:r>
              <a:rPr sz="800" spc="35" dirty="0">
                <a:solidFill>
                  <a:srgbClr val="000000"/>
                </a:solidFill>
              </a:rPr>
              <a:t> </a:t>
            </a:r>
            <a:r>
              <a:rPr sz="800" dirty="0">
                <a:solidFill>
                  <a:srgbClr val="000000"/>
                </a:solidFill>
              </a:rPr>
              <a:t>(</a:t>
            </a:r>
            <a:r>
              <a:rPr sz="800" i="1" dirty="0">
                <a:solidFill>
                  <a:srgbClr val="000000"/>
                </a:solidFill>
                <a:latin typeface="Arial"/>
                <a:cs typeface="Arial"/>
              </a:rPr>
              <a:t>ϵ</a:t>
            </a:r>
            <a:r>
              <a:rPr sz="900" i="1" baseline="-9259" dirty="0">
                <a:solidFill>
                  <a:srgbClr val="000000"/>
                </a:solidFill>
                <a:latin typeface="Arial"/>
                <a:cs typeface="Arial"/>
              </a:rPr>
              <a:t>r</a:t>
            </a:r>
            <a:r>
              <a:rPr sz="900" i="1" spc="-82" baseline="-9259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800" spc="65" dirty="0">
                <a:solidFill>
                  <a:srgbClr val="000000"/>
                </a:solidFill>
              </a:rPr>
              <a:t>)</a:t>
            </a:r>
            <a:r>
              <a:rPr sz="800" spc="30" dirty="0">
                <a:solidFill>
                  <a:srgbClr val="000000"/>
                </a:solidFill>
              </a:rPr>
              <a:t> </a:t>
            </a:r>
            <a:r>
              <a:rPr sz="800" spc="-20" dirty="0">
                <a:solidFill>
                  <a:srgbClr val="000000"/>
                </a:solidFill>
              </a:rPr>
              <a:t>this </a:t>
            </a:r>
            <a:r>
              <a:rPr sz="800" dirty="0">
                <a:solidFill>
                  <a:srgbClr val="000000"/>
                </a:solidFill>
              </a:rPr>
              <a:t>significantly</a:t>
            </a:r>
            <a:r>
              <a:rPr sz="800" spc="20" dirty="0">
                <a:solidFill>
                  <a:srgbClr val="000000"/>
                </a:solidFill>
              </a:rPr>
              <a:t> </a:t>
            </a:r>
            <a:r>
              <a:rPr sz="800" spc="-35" dirty="0">
                <a:solidFill>
                  <a:srgbClr val="000000"/>
                </a:solidFill>
              </a:rPr>
              <a:t>increases</a:t>
            </a:r>
            <a:r>
              <a:rPr sz="800" spc="20" dirty="0">
                <a:solidFill>
                  <a:srgbClr val="000000"/>
                </a:solidFill>
              </a:rPr>
              <a:t> </a:t>
            </a:r>
            <a:r>
              <a:rPr sz="800" dirty="0">
                <a:solidFill>
                  <a:srgbClr val="000000"/>
                </a:solidFill>
              </a:rPr>
              <a:t>the</a:t>
            </a:r>
            <a:r>
              <a:rPr sz="800" spc="25" dirty="0">
                <a:solidFill>
                  <a:srgbClr val="000000"/>
                </a:solidFill>
              </a:rPr>
              <a:t> </a:t>
            </a:r>
            <a:r>
              <a:rPr sz="800" dirty="0">
                <a:solidFill>
                  <a:srgbClr val="000000"/>
                </a:solidFill>
              </a:rPr>
              <a:t>gate</a:t>
            </a:r>
            <a:r>
              <a:rPr sz="800" spc="20" dirty="0">
                <a:solidFill>
                  <a:srgbClr val="000000"/>
                </a:solidFill>
              </a:rPr>
              <a:t> </a:t>
            </a:r>
            <a:r>
              <a:rPr sz="800" spc="-20" dirty="0">
                <a:solidFill>
                  <a:srgbClr val="000000"/>
                </a:solidFill>
              </a:rPr>
              <a:t>capacitance,</a:t>
            </a:r>
            <a:r>
              <a:rPr sz="800" spc="25" dirty="0">
                <a:solidFill>
                  <a:srgbClr val="000000"/>
                </a:solidFill>
              </a:rPr>
              <a:t> </a:t>
            </a:r>
            <a:r>
              <a:rPr sz="800" dirty="0">
                <a:solidFill>
                  <a:srgbClr val="000000"/>
                </a:solidFill>
              </a:rPr>
              <a:t>allowing</a:t>
            </a:r>
            <a:r>
              <a:rPr sz="800" spc="20" dirty="0">
                <a:solidFill>
                  <a:srgbClr val="000000"/>
                </a:solidFill>
              </a:rPr>
              <a:t> </a:t>
            </a:r>
            <a:r>
              <a:rPr sz="800" dirty="0">
                <a:solidFill>
                  <a:srgbClr val="000000"/>
                </a:solidFill>
              </a:rPr>
              <a:t>the</a:t>
            </a:r>
            <a:r>
              <a:rPr sz="800" spc="20" dirty="0">
                <a:solidFill>
                  <a:srgbClr val="000000"/>
                </a:solidFill>
              </a:rPr>
              <a:t> </a:t>
            </a:r>
            <a:r>
              <a:rPr sz="800" dirty="0">
                <a:solidFill>
                  <a:srgbClr val="000000"/>
                </a:solidFill>
              </a:rPr>
              <a:t>stronger</a:t>
            </a:r>
            <a:r>
              <a:rPr sz="800" spc="25" dirty="0">
                <a:solidFill>
                  <a:srgbClr val="000000"/>
                </a:solidFill>
              </a:rPr>
              <a:t> </a:t>
            </a:r>
            <a:r>
              <a:rPr sz="800" dirty="0">
                <a:solidFill>
                  <a:srgbClr val="000000"/>
                </a:solidFill>
              </a:rPr>
              <a:t>gate</a:t>
            </a:r>
            <a:r>
              <a:rPr sz="800" spc="20" dirty="0">
                <a:solidFill>
                  <a:srgbClr val="000000"/>
                </a:solidFill>
              </a:rPr>
              <a:t> </a:t>
            </a:r>
            <a:r>
              <a:rPr sz="800" dirty="0">
                <a:solidFill>
                  <a:srgbClr val="000000"/>
                </a:solidFill>
              </a:rPr>
              <a:t>control</a:t>
            </a:r>
            <a:r>
              <a:rPr sz="800" spc="25" dirty="0">
                <a:solidFill>
                  <a:srgbClr val="000000"/>
                </a:solidFill>
              </a:rPr>
              <a:t> </a:t>
            </a:r>
            <a:r>
              <a:rPr sz="800" dirty="0">
                <a:solidFill>
                  <a:srgbClr val="000000"/>
                </a:solidFill>
              </a:rPr>
              <a:t>over</a:t>
            </a:r>
            <a:r>
              <a:rPr sz="800" spc="20" dirty="0">
                <a:solidFill>
                  <a:srgbClr val="000000"/>
                </a:solidFill>
              </a:rPr>
              <a:t> </a:t>
            </a:r>
            <a:r>
              <a:rPr sz="800" spc="-25" dirty="0">
                <a:solidFill>
                  <a:srgbClr val="000000"/>
                </a:solidFill>
              </a:rPr>
              <a:t>the</a:t>
            </a:r>
            <a:r>
              <a:rPr sz="800" dirty="0">
                <a:solidFill>
                  <a:srgbClr val="000000"/>
                </a:solidFill>
              </a:rPr>
              <a:t> remote</a:t>
            </a:r>
            <a:r>
              <a:rPr sz="800" spc="-5" dirty="0">
                <a:solidFill>
                  <a:srgbClr val="000000"/>
                </a:solidFill>
              </a:rPr>
              <a:t> </a:t>
            </a:r>
            <a:r>
              <a:rPr sz="800" dirty="0">
                <a:solidFill>
                  <a:srgbClr val="000000"/>
                </a:solidFill>
              </a:rPr>
              <a:t>MoS</a:t>
            </a:r>
            <a:r>
              <a:rPr sz="900" baseline="-9259" dirty="0">
                <a:solidFill>
                  <a:srgbClr val="000000"/>
                </a:solidFill>
              </a:rPr>
              <a:t>2</a:t>
            </a:r>
            <a:r>
              <a:rPr sz="900" spc="135" baseline="-9259" dirty="0">
                <a:solidFill>
                  <a:srgbClr val="000000"/>
                </a:solidFill>
              </a:rPr>
              <a:t> </a:t>
            </a:r>
            <a:r>
              <a:rPr sz="800" spc="-10" dirty="0">
                <a:solidFill>
                  <a:srgbClr val="000000"/>
                </a:solidFill>
              </a:rPr>
              <a:t>channel.</a:t>
            </a:r>
            <a:endParaRPr sz="800">
              <a:latin typeface="Arial"/>
              <a:cs typeface="Arial"/>
            </a:endParaRPr>
          </a:p>
          <a:p>
            <a:pPr marL="177165" marR="45720">
              <a:lnSpc>
                <a:spcPts val="950"/>
              </a:lnSpc>
              <a:spcBef>
                <a:spcPts val="290"/>
              </a:spcBef>
            </a:pPr>
            <a:r>
              <a:rPr sz="800" b="1" spc="-20" dirty="0">
                <a:solidFill>
                  <a:srgbClr val="000000"/>
                </a:solidFill>
                <a:latin typeface="Arial"/>
                <a:cs typeface="Arial"/>
              </a:rPr>
              <a:t>Intrinsic</a:t>
            </a:r>
            <a:r>
              <a:rPr sz="800" b="1" spc="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000000"/>
                </a:solidFill>
                <a:latin typeface="Arial"/>
                <a:cs typeface="Arial"/>
              </a:rPr>
              <a:t>Defectivity:</a:t>
            </a:r>
            <a:r>
              <a:rPr sz="800" b="1" spc="1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00000"/>
                </a:solidFill>
              </a:rPr>
              <a:t>The</a:t>
            </a:r>
            <a:r>
              <a:rPr sz="800" spc="35" dirty="0">
                <a:solidFill>
                  <a:srgbClr val="000000"/>
                </a:solidFill>
              </a:rPr>
              <a:t> </a:t>
            </a:r>
            <a:r>
              <a:rPr sz="800" dirty="0">
                <a:solidFill>
                  <a:srgbClr val="000000"/>
                </a:solidFill>
              </a:rPr>
              <a:t>crystal</a:t>
            </a:r>
            <a:r>
              <a:rPr sz="800" spc="35" dirty="0">
                <a:solidFill>
                  <a:srgbClr val="000000"/>
                </a:solidFill>
              </a:rPr>
              <a:t> </a:t>
            </a:r>
            <a:r>
              <a:rPr sz="800" dirty="0">
                <a:solidFill>
                  <a:srgbClr val="000000"/>
                </a:solidFill>
              </a:rPr>
              <a:t>structure</a:t>
            </a:r>
            <a:r>
              <a:rPr sz="800" spc="35" dirty="0">
                <a:solidFill>
                  <a:srgbClr val="000000"/>
                </a:solidFill>
              </a:rPr>
              <a:t> </a:t>
            </a:r>
            <a:r>
              <a:rPr sz="800" dirty="0">
                <a:solidFill>
                  <a:srgbClr val="000000"/>
                </a:solidFill>
              </a:rPr>
              <a:t>of</a:t>
            </a:r>
            <a:r>
              <a:rPr sz="800" spc="35" dirty="0">
                <a:solidFill>
                  <a:srgbClr val="000000"/>
                </a:solidFill>
              </a:rPr>
              <a:t> </a:t>
            </a:r>
            <a:r>
              <a:rPr sz="800" dirty="0">
                <a:solidFill>
                  <a:srgbClr val="000000"/>
                </a:solidFill>
              </a:rPr>
              <a:t>HfO</a:t>
            </a:r>
            <a:r>
              <a:rPr sz="900" baseline="-9259" dirty="0">
                <a:solidFill>
                  <a:srgbClr val="000000"/>
                </a:solidFill>
              </a:rPr>
              <a:t>2</a:t>
            </a:r>
            <a:r>
              <a:rPr sz="900" spc="187" baseline="-9259" dirty="0">
                <a:solidFill>
                  <a:srgbClr val="000000"/>
                </a:solidFill>
              </a:rPr>
              <a:t> </a:t>
            </a:r>
            <a:r>
              <a:rPr sz="800" dirty="0">
                <a:solidFill>
                  <a:srgbClr val="000000"/>
                </a:solidFill>
              </a:rPr>
              <a:t>is</a:t>
            </a:r>
            <a:r>
              <a:rPr sz="800" spc="35" dirty="0">
                <a:solidFill>
                  <a:srgbClr val="000000"/>
                </a:solidFill>
              </a:rPr>
              <a:t> </a:t>
            </a:r>
            <a:r>
              <a:rPr sz="800" dirty="0">
                <a:solidFill>
                  <a:srgbClr val="000000"/>
                </a:solidFill>
              </a:rPr>
              <a:t>inherently</a:t>
            </a:r>
            <a:r>
              <a:rPr sz="800" spc="35" dirty="0">
                <a:solidFill>
                  <a:srgbClr val="000000"/>
                </a:solidFill>
              </a:rPr>
              <a:t> </a:t>
            </a:r>
            <a:r>
              <a:rPr sz="800" spc="-10" dirty="0">
                <a:solidFill>
                  <a:srgbClr val="000000"/>
                </a:solidFill>
              </a:rPr>
              <a:t>unstable,</a:t>
            </a:r>
            <a:r>
              <a:rPr sz="800" spc="35" dirty="0">
                <a:solidFill>
                  <a:srgbClr val="000000"/>
                </a:solidFill>
              </a:rPr>
              <a:t> </a:t>
            </a:r>
            <a:r>
              <a:rPr sz="800" dirty="0">
                <a:solidFill>
                  <a:srgbClr val="000000"/>
                </a:solidFill>
              </a:rPr>
              <a:t>making</a:t>
            </a:r>
            <a:r>
              <a:rPr sz="800" spc="35" dirty="0">
                <a:solidFill>
                  <a:srgbClr val="000000"/>
                </a:solidFill>
              </a:rPr>
              <a:t> </a:t>
            </a:r>
            <a:r>
              <a:rPr sz="800" spc="50" dirty="0">
                <a:solidFill>
                  <a:srgbClr val="000000"/>
                </a:solidFill>
              </a:rPr>
              <a:t>it</a:t>
            </a:r>
            <a:r>
              <a:rPr sz="800" spc="35" dirty="0">
                <a:solidFill>
                  <a:srgbClr val="000000"/>
                </a:solidFill>
              </a:rPr>
              <a:t> </a:t>
            </a:r>
            <a:r>
              <a:rPr sz="800" spc="-10" dirty="0">
                <a:solidFill>
                  <a:srgbClr val="000000"/>
                </a:solidFill>
              </a:rPr>
              <a:t>highly prone</a:t>
            </a:r>
            <a:r>
              <a:rPr sz="800" spc="30" dirty="0">
                <a:solidFill>
                  <a:srgbClr val="000000"/>
                </a:solidFill>
              </a:rPr>
              <a:t> </a:t>
            </a:r>
            <a:r>
              <a:rPr sz="800" dirty="0">
                <a:solidFill>
                  <a:srgbClr val="000000"/>
                </a:solidFill>
              </a:rPr>
              <a:t>to</a:t>
            </a:r>
            <a:r>
              <a:rPr sz="800" spc="35" dirty="0">
                <a:solidFill>
                  <a:srgbClr val="000000"/>
                </a:solidFill>
              </a:rPr>
              <a:t> </a:t>
            </a:r>
            <a:r>
              <a:rPr sz="800" dirty="0">
                <a:solidFill>
                  <a:srgbClr val="000000"/>
                </a:solidFill>
              </a:rPr>
              <a:t>forming</a:t>
            </a:r>
            <a:r>
              <a:rPr sz="800" spc="30" dirty="0">
                <a:solidFill>
                  <a:srgbClr val="000000"/>
                </a:solidFill>
              </a:rPr>
              <a:t> </a:t>
            </a:r>
            <a:r>
              <a:rPr sz="800" spc="-10" dirty="0">
                <a:solidFill>
                  <a:srgbClr val="000000"/>
                </a:solidFill>
              </a:rPr>
              <a:t>stable</a:t>
            </a:r>
            <a:r>
              <a:rPr sz="800" spc="35" dirty="0">
                <a:solidFill>
                  <a:srgbClr val="000000"/>
                </a:solidFill>
              </a:rPr>
              <a:t> </a:t>
            </a:r>
            <a:r>
              <a:rPr sz="800" spc="-25" dirty="0">
                <a:solidFill>
                  <a:srgbClr val="000000"/>
                </a:solidFill>
              </a:rPr>
              <a:t>oxygen</a:t>
            </a:r>
            <a:r>
              <a:rPr sz="800" spc="35" dirty="0">
                <a:solidFill>
                  <a:srgbClr val="000000"/>
                </a:solidFill>
              </a:rPr>
              <a:t> </a:t>
            </a:r>
            <a:r>
              <a:rPr sz="800" spc="-30" dirty="0">
                <a:solidFill>
                  <a:srgbClr val="000000"/>
                </a:solidFill>
              </a:rPr>
              <a:t>vacancies</a:t>
            </a:r>
            <a:r>
              <a:rPr sz="800" spc="30" dirty="0">
                <a:solidFill>
                  <a:srgbClr val="000000"/>
                </a:solidFill>
              </a:rPr>
              <a:t> </a:t>
            </a:r>
            <a:r>
              <a:rPr sz="800" dirty="0">
                <a:solidFill>
                  <a:srgbClr val="000000"/>
                </a:solidFill>
              </a:rPr>
              <a:t>during</a:t>
            </a:r>
            <a:r>
              <a:rPr sz="800" spc="35" dirty="0">
                <a:solidFill>
                  <a:srgbClr val="000000"/>
                </a:solidFill>
              </a:rPr>
              <a:t> </a:t>
            </a:r>
            <a:r>
              <a:rPr sz="800" spc="-10" dirty="0">
                <a:solidFill>
                  <a:srgbClr val="000000"/>
                </a:solidFill>
              </a:rPr>
              <a:t>deposition.</a:t>
            </a:r>
            <a:endParaRPr sz="800">
              <a:latin typeface="Arial"/>
              <a:cs typeface="Arial"/>
            </a:endParaRPr>
          </a:p>
          <a:p>
            <a:pPr marL="177165">
              <a:lnSpc>
                <a:spcPts val="955"/>
              </a:lnSpc>
              <a:spcBef>
                <a:spcPts val="250"/>
              </a:spcBef>
            </a:pPr>
            <a:r>
              <a:rPr sz="800" b="1" spc="-40" dirty="0">
                <a:solidFill>
                  <a:srgbClr val="000000"/>
                </a:solidFill>
                <a:latin typeface="Arial"/>
                <a:cs typeface="Arial"/>
              </a:rPr>
              <a:t>Enhanced</a:t>
            </a:r>
            <a:r>
              <a:rPr sz="800" b="1" spc="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800" b="1" spc="-30" dirty="0">
                <a:solidFill>
                  <a:srgbClr val="000000"/>
                </a:solidFill>
                <a:latin typeface="Arial"/>
                <a:cs typeface="Arial"/>
              </a:rPr>
              <a:t>memory</a:t>
            </a:r>
            <a:r>
              <a:rPr sz="800" b="1" spc="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800" b="1" spc="-25" dirty="0">
                <a:solidFill>
                  <a:srgbClr val="000000"/>
                </a:solidFill>
                <a:latin typeface="Arial"/>
                <a:cs typeface="Arial"/>
              </a:rPr>
              <a:t>window:</a:t>
            </a:r>
            <a:r>
              <a:rPr sz="800" b="1" spc="1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000000"/>
                </a:solidFill>
              </a:rPr>
              <a:t>These</a:t>
            </a:r>
            <a:r>
              <a:rPr sz="800" spc="35" dirty="0">
                <a:solidFill>
                  <a:srgbClr val="000000"/>
                </a:solidFill>
              </a:rPr>
              <a:t> </a:t>
            </a:r>
            <a:r>
              <a:rPr sz="800" dirty="0">
                <a:solidFill>
                  <a:srgbClr val="000000"/>
                </a:solidFill>
              </a:rPr>
              <a:t>structural</a:t>
            </a:r>
            <a:r>
              <a:rPr sz="800" spc="35" dirty="0">
                <a:solidFill>
                  <a:srgbClr val="000000"/>
                </a:solidFill>
              </a:rPr>
              <a:t> </a:t>
            </a:r>
            <a:r>
              <a:rPr sz="800" spc="-30" dirty="0">
                <a:solidFill>
                  <a:srgbClr val="000000"/>
                </a:solidFill>
              </a:rPr>
              <a:t>vacancies</a:t>
            </a:r>
            <a:r>
              <a:rPr sz="800" spc="35" dirty="0">
                <a:solidFill>
                  <a:srgbClr val="000000"/>
                </a:solidFill>
              </a:rPr>
              <a:t> </a:t>
            </a:r>
            <a:r>
              <a:rPr sz="800" dirty="0">
                <a:solidFill>
                  <a:srgbClr val="000000"/>
                </a:solidFill>
              </a:rPr>
              <a:t>in</a:t>
            </a:r>
            <a:r>
              <a:rPr sz="800" spc="35" dirty="0">
                <a:solidFill>
                  <a:srgbClr val="000000"/>
                </a:solidFill>
              </a:rPr>
              <a:t> </a:t>
            </a:r>
            <a:r>
              <a:rPr sz="800" dirty="0">
                <a:solidFill>
                  <a:srgbClr val="000000"/>
                </a:solidFill>
              </a:rPr>
              <a:t>HfO</a:t>
            </a:r>
            <a:r>
              <a:rPr sz="900" baseline="-9259" dirty="0">
                <a:solidFill>
                  <a:srgbClr val="000000"/>
                </a:solidFill>
              </a:rPr>
              <a:t>2</a:t>
            </a:r>
            <a:r>
              <a:rPr sz="900" spc="187" baseline="-9259" dirty="0">
                <a:solidFill>
                  <a:srgbClr val="000000"/>
                </a:solidFill>
              </a:rPr>
              <a:t> </a:t>
            </a:r>
            <a:r>
              <a:rPr sz="800" dirty="0">
                <a:solidFill>
                  <a:srgbClr val="000000"/>
                </a:solidFill>
              </a:rPr>
              <a:t>function</a:t>
            </a:r>
            <a:r>
              <a:rPr sz="800" spc="40" dirty="0">
                <a:solidFill>
                  <a:srgbClr val="000000"/>
                </a:solidFill>
              </a:rPr>
              <a:t> </a:t>
            </a:r>
            <a:r>
              <a:rPr sz="800" spc="-20" dirty="0">
                <a:solidFill>
                  <a:srgbClr val="000000"/>
                </a:solidFill>
              </a:rPr>
              <a:t>as</a:t>
            </a:r>
            <a:r>
              <a:rPr sz="800" spc="35" dirty="0">
                <a:solidFill>
                  <a:srgbClr val="000000"/>
                </a:solidFill>
              </a:rPr>
              <a:t> </a:t>
            </a:r>
            <a:r>
              <a:rPr sz="800" spc="-30" dirty="0">
                <a:solidFill>
                  <a:srgbClr val="000000"/>
                </a:solidFill>
              </a:rPr>
              <a:t>deep</a:t>
            </a:r>
            <a:r>
              <a:rPr sz="800" spc="30" dirty="0">
                <a:solidFill>
                  <a:srgbClr val="000000"/>
                </a:solidFill>
              </a:rPr>
              <a:t> </a:t>
            </a:r>
            <a:r>
              <a:rPr sz="800" b="1" spc="-20" dirty="0">
                <a:solidFill>
                  <a:srgbClr val="000000"/>
                </a:solidFill>
                <a:latin typeface="Arial"/>
                <a:cs typeface="Arial"/>
              </a:rPr>
              <a:t>bulk</a:t>
            </a:r>
            <a:endParaRPr sz="800">
              <a:latin typeface="Arial"/>
              <a:cs typeface="Arial"/>
            </a:endParaRPr>
          </a:p>
          <a:p>
            <a:pPr marL="177165">
              <a:lnSpc>
                <a:spcPts val="955"/>
              </a:lnSpc>
            </a:pPr>
            <a:r>
              <a:rPr sz="800" spc="-25" dirty="0">
                <a:solidFill>
                  <a:srgbClr val="000000"/>
                </a:solidFill>
              </a:rPr>
              <a:t>charge</a:t>
            </a:r>
            <a:r>
              <a:rPr sz="800" spc="10" dirty="0">
                <a:solidFill>
                  <a:srgbClr val="000000"/>
                </a:solidFill>
              </a:rPr>
              <a:t> </a:t>
            </a:r>
            <a:r>
              <a:rPr sz="800" dirty="0">
                <a:solidFill>
                  <a:srgbClr val="000000"/>
                </a:solidFill>
              </a:rPr>
              <a:t>traps,</a:t>
            </a:r>
            <a:r>
              <a:rPr sz="800" spc="15" dirty="0">
                <a:solidFill>
                  <a:srgbClr val="000000"/>
                </a:solidFill>
              </a:rPr>
              <a:t> </a:t>
            </a:r>
            <a:r>
              <a:rPr sz="800" spc="-10" dirty="0">
                <a:solidFill>
                  <a:srgbClr val="000000"/>
                </a:solidFill>
              </a:rPr>
              <a:t>enabling</a:t>
            </a:r>
            <a:r>
              <a:rPr sz="800" spc="10" dirty="0">
                <a:solidFill>
                  <a:srgbClr val="000000"/>
                </a:solidFill>
              </a:rPr>
              <a:t> </a:t>
            </a:r>
            <a:r>
              <a:rPr sz="800" dirty="0">
                <a:solidFill>
                  <a:srgbClr val="000000"/>
                </a:solidFill>
              </a:rPr>
              <a:t>a</a:t>
            </a:r>
            <a:r>
              <a:rPr sz="800" spc="15" dirty="0">
                <a:solidFill>
                  <a:srgbClr val="000000"/>
                </a:solidFill>
              </a:rPr>
              <a:t> </a:t>
            </a:r>
            <a:r>
              <a:rPr sz="800" dirty="0">
                <a:solidFill>
                  <a:srgbClr val="000000"/>
                </a:solidFill>
              </a:rPr>
              <a:t>far</a:t>
            </a:r>
            <a:r>
              <a:rPr sz="800" spc="10" dirty="0">
                <a:solidFill>
                  <a:srgbClr val="000000"/>
                </a:solidFill>
              </a:rPr>
              <a:t> </a:t>
            </a:r>
            <a:r>
              <a:rPr sz="800" dirty="0">
                <a:solidFill>
                  <a:srgbClr val="000000"/>
                </a:solidFill>
              </a:rPr>
              <a:t>higher</a:t>
            </a:r>
            <a:r>
              <a:rPr sz="800" spc="15" dirty="0">
                <a:solidFill>
                  <a:srgbClr val="000000"/>
                </a:solidFill>
              </a:rPr>
              <a:t> </a:t>
            </a:r>
            <a:r>
              <a:rPr sz="800" spc="-10" dirty="0">
                <a:solidFill>
                  <a:srgbClr val="000000"/>
                </a:solidFill>
              </a:rPr>
              <a:t>volume</a:t>
            </a:r>
            <a:r>
              <a:rPr sz="800" spc="10" dirty="0">
                <a:solidFill>
                  <a:srgbClr val="000000"/>
                </a:solidFill>
              </a:rPr>
              <a:t> </a:t>
            </a:r>
            <a:r>
              <a:rPr sz="800" dirty="0">
                <a:solidFill>
                  <a:srgbClr val="000000"/>
                </a:solidFill>
              </a:rPr>
              <a:t>of</a:t>
            </a:r>
            <a:r>
              <a:rPr sz="800" spc="15" dirty="0">
                <a:solidFill>
                  <a:srgbClr val="000000"/>
                </a:solidFill>
              </a:rPr>
              <a:t> </a:t>
            </a:r>
            <a:r>
              <a:rPr sz="800" spc="-20" dirty="0">
                <a:solidFill>
                  <a:srgbClr val="000000"/>
                </a:solidFill>
              </a:rPr>
              <a:t>storage</a:t>
            </a:r>
            <a:r>
              <a:rPr sz="800" spc="10" dirty="0">
                <a:solidFill>
                  <a:srgbClr val="000000"/>
                </a:solidFill>
              </a:rPr>
              <a:t> </a:t>
            </a:r>
            <a:r>
              <a:rPr sz="800" dirty="0">
                <a:solidFill>
                  <a:srgbClr val="000000"/>
                </a:solidFill>
              </a:rPr>
              <a:t>and</a:t>
            </a:r>
            <a:r>
              <a:rPr sz="800" spc="15" dirty="0">
                <a:solidFill>
                  <a:srgbClr val="000000"/>
                </a:solidFill>
              </a:rPr>
              <a:t> </a:t>
            </a:r>
            <a:r>
              <a:rPr sz="800" spc="-25" dirty="0">
                <a:solidFill>
                  <a:srgbClr val="000000"/>
                </a:solidFill>
              </a:rPr>
              <a:t>hence</a:t>
            </a:r>
            <a:r>
              <a:rPr sz="800" spc="15" dirty="0">
                <a:solidFill>
                  <a:srgbClr val="000000"/>
                </a:solidFill>
              </a:rPr>
              <a:t> </a:t>
            </a:r>
            <a:r>
              <a:rPr sz="800" spc="-30" dirty="0">
                <a:solidFill>
                  <a:srgbClr val="000000"/>
                </a:solidFill>
              </a:rPr>
              <a:t>increase</a:t>
            </a:r>
            <a:r>
              <a:rPr sz="800" spc="10" dirty="0">
                <a:solidFill>
                  <a:srgbClr val="000000"/>
                </a:solidFill>
              </a:rPr>
              <a:t> </a:t>
            </a:r>
            <a:r>
              <a:rPr sz="800" spc="-10" dirty="0">
                <a:solidFill>
                  <a:srgbClr val="000000"/>
                </a:solidFill>
              </a:rPr>
              <a:t>memory</a:t>
            </a:r>
            <a:r>
              <a:rPr sz="800" spc="15" dirty="0">
                <a:solidFill>
                  <a:srgbClr val="000000"/>
                </a:solidFill>
              </a:rPr>
              <a:t> </a:t>
            </a:r>
            <a:r>
              <a:rPr sz="800" spc="-10" dirty="0">
                <a:solidFill>
                  <a:srgbClr val="000000"/>
                </a:solidFill>
              </a:rPr>
              <a:t>window.</a:t>
            </a:r>
            <a:endParaRPr sz="800"/>
          </a:p>
          <a:p>
            <a:pPr marL="177165" marR="333375">
              <a:lnSpc>
                <a:spcPts val="950"/>
              </a:lnSpc>
              <a:spcBef>
                <a:spcPts val="325"/>
              </a:spcBef>
            </a:pPr>
            <a:r>
              <a:rPr sz="800" b="1" dirty="0">
                <a:solidFill>
                  <a:srgbClr val="000000"/>
                </a:solidFill>
                <a:latin typeface="Arial"/>
                <a:cs typeface="Arial"/>
              </a:rPr>
              <a:t>Key</a:t>
            </a:r>
            <a:r>
              <a:rPr sz="800" b="1" spc="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800" b="1" spc="-25" dirty="0">
                <a:solidFill>
                  <a:srgbClr val="000000"/>
                </a:solidFill>
                <a:latin typeface="Arial"/>
                <a:cs typeface="Arial"/>
              </a:rPr>
              <a:t>Advantage</a:t>
            </a:r>
            <a:r>
              <a:rPr sz="800" b="1" spc="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sz="800" b="1" spc="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000000"/>
                </a:solidFill>
                <a:latin typeface="Arial"/>
                <a:cs typeface="Arial"/>
              </a:rPr>
              <a:t>Al2O</a:t>
            </a:r>
            <a:r>
              <a:rPr sz="900" baseline="-9259" dirty="0">
                <a:solidFill>
                  <a:srgbClr val="000000"/>
                </a:solidFill>
              </a:rPr>
              <a:t>3</a:t>
            </a:r>
            <a:r>
              <a:rPr sz="900" spc="195" baseline="-9259" dirty="0">
                <a:solidFill>
                  <a:srgbClr val="000000"/>
                </a:solidFill>
              </a:rPr>
              <a:t> </a:t>
            </a:r>
            <a:r>
              <a:rPr sz="800" b="1" spc="-25" dirty="0">
                <a:solidFill>
                  <a:srgbClr val="000000"/>
                </a:solidFill>
                <a:latin typeface="Arial"/>
                <a:cs typeface="Arial"/>
              </a:rPr>
              <a:t>over</a:t>
            </a:r>
            <a:r>
              <a:rPr sz="800" b="1" spc="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000000"/>
                </a:solidFill>
                <a:latin typeface="Arial"/>
                <a:cs typeface="Arial"/>
              </a:rPr>
              <a:t>HfO</a:t>
            </a:r>
            <a:r>
              <a:rPr sz="900" baseline="-9259" dirty="0">
                <a:solidFill>
                  <a:srgbClr val="000000"/>
                </a:solidFill>
              </a:rPr>
              <a:t>2</a:t>
            </a:r>
            <a:r>
              <a:rPr sz="900" spc="195" baseline="-9259" dirty="0">
                <a:solidFill>
                  <a:srgbClr val="000000"/>
                </a:solidFill>
              </a:rPr>
              <a:t> </a:t>
            </a:r>
            <a:r>
              <a:rPr sz="800" b="1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sz="800" b="1" spc="1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00000"/>
                </a:solidFill>
              </a:rPr>
              <a:t>Due</a:t>
            </a:r>
            <a:r>
              <a:rPr sz="800" spc="30" dirty="0">
                <a:solidFill>
                  <a:srgbClr val="000000"/>
                </a:solidFill>
              </a:rPr>
              <a:t> </a:t>
            </a:r>
            <a:r>
              <a:rPr sz="800" dirty="0">
                <a:solidFill>
                  <a:srgbClr val="000000"/>
                </a:solidFill>
              </a:rPr>
              <a:t>to</a:t>
            </a:r>
            <a:r>
              <a:rPr sz="800" spc="35" dirty="0">
                <a:solidFill>
                  <a:srgbClr val="000000"/>
                </a:solidFill>
              </a:rPr>
              <a:t> </a:t>
            </a:r>
            <a:r>
              <a:rPr sz="800" dirty="0">
                <a:solidFill>
                  <a:srgbClr val="000000"/>
                </a:solidFill>
              </a:rPr>
              <a:t>Al2O</a:t>
            </a:r>
            <a:r>
              <a:rPr sz="900" baseline="-9259" dirty="0">
                <a:solidFill>
                  <a:srgbClr val="000000"/>
                </a:solidFill>
              </a:rPr>
              <a:t>3</a:t>
            </a:r>
            <a:r>
              <a:rPr sz="900" spc="187" baseline="-9259" dirty="0">
                <a:solidFill>
                  <a:srgbClr val="000000"/>
                </a:solidFill>
              </a:rPr>
              <a:t> </a:t>
            </a:r>
            <a:r>
              <a:rPr sz="800" spc="-10" dirty="0">
                <a:solidFill>
                  <a:srgbClr val="000000"/>
                </a:solidFill>
              </a:rPr>
              <a:t>large</a:t>
            </a:r>
            <a:r>
              <a:rPr sz="800" spc="30" dirty="0">
                <a:solidFill>
                  <a:srgbClr val="000000"/>
                </a:solidFill>
              </a:rPr>
              <a:t> </a:t>
            </a:r>
            <a:r>
              <a:rPr sz="800" spc="-20" dirty="0">
                <a:solidFill>
                  <a:srgbClr val="000000"/>
                </a:solidFill>
              </a:rPr>
              <a:t>bandgap</a:t>
            </a:r>
            <a:r>
              <a:rPr sz="800" spc="35" dirty="0">
                <a:solidFill>
                  <a:srgbClr val="000000"/>
                </a:solidFill>
              </a:rPr>
              <a:t> </a:t>
            </a:r>
            <a:r>
              <a:rPr sz="800" spc="65" dirty="0">
                <a:solidFill>
                  <a:srgbClr val="000000"/>
                </a:solidFill>
              </a:rPr>
              <a:t>(</a:t>
            </a:r>
            <a:r>
              <a:rPr sz="800" spc="30" dirty="0">
                <a:solidFill>
                  <a:srgbClr val="000000"/>
                </a:solidFill>
              </a:rPr>
              <a:t> </a:t>
            </a:r>
            <a:r>
              <a:rPr sz="800" dirty="0">
                <a:solidFill>
                  <a:srgbClr val="000000"/>
                </a:solidFill>
              </a:rPr>
              <a:t>8.8eV),</a:t>
            </a:r>
            <a:r>
              <a:rPr sz="800" spc="35" dirty="0">
                <a:solidFill>
                  <a:srgbClr val="000000"/>
                </a:solidFill>
              </a:rPr>
              <a:t> </a:t>
            </a:r>
            <a:r>
              <a:rPr sz="800" spc="-10" dirty="0">
                <a:solidFill>
                  <a:srgbClr val="000000"/>
                </a:solidFill>
              </a:rPr>
              <a:t>which minimizes</a:t>
            </a:r>
            <a:r>
              <a:rPr sz="800" spc="20" dirty="0">
                <a:solidFill>
                  <a:srgbClr val="000000"/>
                </a:solidFill>
              </a:rPr>
              <a:t> </a:t>
            </a:r>
            <a:r>
              <a:rPr sz="800" spc="-30" dirty="0">
                <a:solidFill>
                  <a:srgbClr val="000000"/>
                </a:solidFill>
              </a:rPr>
              <a:t>leakage</a:t>
            </a:r>
            <a:r>
              <a:rPr sz="800" spc="20" dirty="0">
                <a:solidFill>
                  <a:srgbClr val="000000"/>
                </a:solidFill>
              </a:rPr>
              <a:t> </a:t>
            </a:r>
            <a:r>
              <a:rPr sz="800" dirty="0">
                <a:solidFill>
                  <a:srgbClr val="000000"/>
                </a:solidFill>
              </a:rPr>
              <a:t>current</a:t>
            </a:r>
            <a:r>
              <a:rPr sz="800" spc="20" dirty="0">
                <a:solidFill>
                  <a:srgbClr val="000000"/>
                </a:solidFill>
              </a:rPr>
              <a:t> </a:t>
            </a:r>
            <a:r>
              <a:rPr sz="800" dirty="0">
                <a:solidFill>
                  <a:srgbClr val="000000"/>
                </a:solidFill>
              </a:rPr>
              <a:t>and</a:t>
            </a:r>
            <a:r>
              <a:rPr sz="800" spc="20" dirty="0">
                <a:solidFill>
                  <a:srgbClr val="000000"/>
                </a:solidFill>
              </a:rPr>
              <a:t> </a:t>
            </a:r>
            <a:r>
              <a:rPr sz="800" spc="-30" dirty="0">
                <a:solidFill>
                  <a:srgbClr val="000000"/>
                </a:solidFill>
              </a:rPr>
              <a:t>ensure</a:t>
            </a:r>
            <a:r>
              <a:rPr sz="800" spc="25" dirty="0">
                <a:solidFill>
                  <a:srgbClr val="000000"/>
                </a:solidFill>
              </a:rPr>
              <a:t> </a:t>
            </a:r>
            <a:r>
              <a:rPr sz="800" spc="-10" dirty="0">
                <a:solidFill>
                  <a:srgbClr val="000000"/>
                </a:solidFill>
              </a:rPr>
              <a:t>stable</a:t>
            </a:r>
            <a:r>
              <a:rPr sz="800" spc="20" dirty="0">
                <a:solidFill>
                  <a:srgbClr val="000000"/>
                </a:solidFill>
              </a:rPr>
              <a:t> </a:t>
            </a:r>
            <a:r>
              <a:rPr sz="800" spc="-20" dirty="0">
                <a:solidFill>
                  <a:srgbClr val="000000"/>
                </a:solidFill>
              </a:rPr>
              <a:t>conductance</a:t>
            </a:r>
            <a:r>
              <a:rPr sz="800" spc="20" dirty="0">
                <a:solidFill>
                  <a:srgbClr val="000000"/>
                </a:solidFill>
              </a:rPr>
              <a:t> </a:t>
            </a:r>
            <a:r>
              <a:rPr sz="800" spc="-10" dirty="0">
                <a:solidFill>
                  <a:srgbClr val="000000"/>
                </a:solidFill>
              </a:rPr>
              <a:t>state.</a:t>
            </a:r>
            <a:endParaRPr sz="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1183" y="1245768"/>
            <a:ext cx="47688" cy="4768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1183" y="1524114"/>
            <a:ext cx="47688" cy="4768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1183" y="1802472"/>
            <a:ext cx="47688" cy="47688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spc="-20" dirty="0"/>
              <a:pPr marL="38100">
                <a:lnSpc>
                  <a:spcPts val="580"/>
                </a:lnSpc>
              </a:pPr>
              <a:t>7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17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290830"/>
          </a:xfrm>
          <a:custGeom>
            <a:avLst/>
            <a:gdLst/>
            <a:ahLst/>
            <a:cxnLst/>
            <a:rect l="l" t="t" r="r" b="b"/>
            <a:pathLst>
              <a:path w="4608195" h="290830">
                <a:moveTo>
                  <a:pt x="4608004" y="0"/>
                </a:moveTo>
                <a:lnTo>
                  <a:pt x="0" y="0"/>
                </a:lnTo>
                <a:lnTo>
                  <a:pt x="0" y="290233"/>
                </a:lnTo>
                <a:lnTo>
                  <a:pt x="4608004" y="290233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1478" y="47014"/>
            <a:ext cx="174243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45" dirty="0"/>
              <a:t>Interface </a:t>
            </a:r>
            <a:r>
              <a:rPr spc="-20" dirty="0"/>
              <a:t>traps</a:t>
            </a:r>
            <a:r>
              <a:rPr spc="-40" dirty="0"/>
              <a:t> </a:t>
            </a:r>
            <a:r>
              <a:rPr spc="-35" dirty="0"/>
              <a:t>and</a:t>
            </a:r>
            <a:r>
              <a:rPr spc="-40" dirty="0"/>
              <a:t> </a:t>
            </a:r>
            <a:r>
              <a:rPr spc="-10" dirty="0"/>
              <a:t>bulk</a:t>
            </a:r>
            <a:r>
              <a:rPr spc="-40" dirty="0"/>
              <a:t> </a:t>
            </a:r>
            <a:r>
              <a:rPr spc="-25" dirty="0"/>
              <a:t>traps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183" y="373850"/>
            <a:ext cx="47688" cy="4768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09943" y="310145"/>
            <a:ext cx="4112895" cy="8896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199390">
              <a:lnSpc>
                <a:spcPts val="950"/>
              </a:lnSpc>
              <a:spcBef>
                <a:spcPts val="135"/>
              </a:spcBef>
            </a:pPr>
            <a:r>
              <a:rPr sz="800" b="1" spc="-10" dirty="0">
                <a:latin typeface="Arial"/>
                <a:cs typeface="Arial"/>
              </a:rPr>
              <a:t>Interface</a:t>
            </a:r>
            <a:r>
              <a:rPr sz="800" b="1" spc="75" dirty="0">
                <a:latin typeface="Arial"/>
                <a:cs typeface="Arial"/>
              </a:rPr>
              <a:t> </a:t>
            </a:r>
            <a:r>
              <a:rPr sz="800" b="1" spc="-25" dirty="0">
                <a:latin typeface="Arial"/>
                <a:cs typeface="Arial"/>
              </a:rPr>
              <a:t>Traps</a:t>
            </a:r>
            <a:r>
              <a:rPr sz="800" b="1" spc="75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state</a:t>
            </a:r>
            <a:r>
              <a:rPr sz="800" b="1" spc="70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At</a:t>
            </a:r>
            <a:r>
              <a:rPr sz="800" b="1" spc="70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MoS2/HfO2:</a:t>
            </a:r>
            <a:r>
              <a:rPr sz="800" b="1" spc="165" dirty="0">
                <a:latin typeface="Arial"/>
                <a:cs typeface="Arial"/>
              </a:rPr>
              <a:t>  </a:t>
            </a:r>
            <a:r>
              <a:rPr sz="800" spc="-20" dirty="0">
                <a:latin typeface="Arial MT"/>
                <a:cs typeface="Arial MT"/>
              </a:rPr>
              <a:t>These</a:t>
            </a:r>
            <a:r>
              <a:rPr sz="800" spc="7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traps</a:t>
            </a:r>
            <a:r>
              <a:rPr sz="800" spc="6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sit</a:t>
            </a:r>
            <a:r>
              <a:rPr sz="800" spc="6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directly</a:t>
            </a:r>
            <a:r>
              <a:rPr sz="800" spc="6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at</a:t>
            </a:r>
            <a:r>
              <a:rPr sz="800" spc="6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6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MoS2–HfO2 </a:t>
            </a:r>
            <a:r>
              <a:rPr sz="800" dirty="0">
                <a:latin typeface="Arial MT"/>
                <a:cs typeface="Arial MT"/>
              </a:rPr>
              <a:t>interface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interact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instantly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with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channel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through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SRH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capture/emission.</a:t>
            </a:r>
            <a:r>
              <a:rPr sz="800" spc="120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They </a:t>
            </a:r>
            <a:r>
              <a:rPr sz="800" dirty="0">
                <a:latin typeface="Arial MT"/>
                <a:cs typeface="Arial MT"/>
              </a:rPr>
              <a:t>mainly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degrade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current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mobility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but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cannot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store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charge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for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long.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ts val="955"/>
              </a:lnSpc>
              <a:spcBef>
                <a:spcPts val="114"/>
              </a:spcBef>
            </a:pPr>
            <a:r>
              <a:rPr sz="800" b="1" spc="-20" dirty="0">
                <a:latin typeface="Arial"/>
                <a:cs typeface="Arial"/>
              </a:rPr>
              <a:t>Oxide</a:t>
            </a:r>
            <a:r>
              <a:rPr sz="800" b="1" dirty="0">
                <a:latin typeface="Arial"/>
                <a:cs typeface="Arial"/>
              </a:rPr>
              <a:t> </a:t>
            </a:r>
            <a:r>
              <a:rPr sz="800" b="1" spc="-25" dirty="0">
                <a:latin typeface="Arial"/>
                <a:cs typeface="Arial"/>
              </a:rPr>
              <a:t>Traps</a:t>
            </a:r>
            <a:r>
              <a:rPr sz="800" b="1" spc="5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state</a:t>
            </a:r>
            <a:r>
              <a:rPr sz="800" b="1" spc="-5" dirty="0">
                <a:latin typeface="Arial"/>
                <a:cs typeface="Arial"/>
              </a:rPr>
              <a:t> </a:t>
            </a:r>
            <a:r>
              <a:rPr sz="800" spc="-50" dirty="0">
                <a:latin typeface="Arial MT"/>
                <a:cs typeface="Arial MT"/>
              </a:rPr>
              <a:t>:</a:t>
            </a:r>
            <a:endParaRPr sz="800">
              <a:latin typeface="Arial MT"/>
              <a:cs typeface="Arial MT"/>
            </a:endParaRPr>
          </a:p>
          <a:p>
            <a:pPr marL="12700" marR="5080">
              <a:lnSpc>
                <a:spcPts val="950"/>
              </a:lnSpc>
              <a:spcBef>
                <a:spcPts val="35"/>
              </a:spcBef>
            </a:pPr>
            <a:r>
              <a:rPr sz="800" dirty="0">
                <a:latin typeface="Arial MT"/>
                <a:cs typeface="Arial MT"/>
              </a:rPr>
              <a:t>Located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within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HfO2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dielectric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volume,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physically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separated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from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MoS2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bands. Can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retain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charge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for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long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periods,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making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them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dominant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mechanism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enabling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stable, non-</a:t>
            </a:r>
            <a:r>
              <a:rPr sz="800" dirty="0">
                <a:latin typeface="Arial MT"/>
                <a:cs typeface="Arial MT"/>
              </a:rPr>
              <a:t>volatile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memory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storage.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1183" y="755421"/>
            <a:ext cx="47688" cy="4768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0302" y="1672252"/>
            <a:ext cx="1679473" cy="99140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02855" y="2771155"/>
            <a:ext cx="2273300" cy="4032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sz="700" spc="2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Interface</a:t>
            </a:r>
            <a:r>
              <a:rPr sz="700" spc="2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trap</a:t>
            </a:r>
            <a:r>
              <a:rPr sz="700" spc="2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states[2]</a:t>
            </a:r>
            <a:endParaRPr sz="700">
              <a:latin typeface="Arial MT"/>
              <a:cs typeface="Arial MT"/>
            </a:endParaRPr>
          </a:p>
          <a:p>
            <a:pPr marL="1539875" marR="5080">
              <a:lnSpc>
                <a:spcPts val="800"/>
              </a:lnSpc>
              <a:spcBef>
                <a:spcPts val="555"/>
              </a:spcBef>
            </a:pPr>
            <a:r>
              <a:rPr sz="700" dirty="0">
                <a:solidFill>
                  <a:srgbClr val="3333B2"/>
                </a:solidFill>
                <a:latin typeface="Arial MT"/>
                <a:cs typeface="Arial MT"/>
              </a:rPr>
              <a:t>Figure: </a:t>
            </a:r>
            <a:r>
              <a:rPr sz="700" dirty="0">
                <a:latin typeface="Arial MT"/>
                <a:cs typeface="Arial MT"/>
              </a:rPr>
              <a:t>Oxide </a:t>
            </a:r>
            <a:r>
              <a:rPr sz="700" spc="-20" dirty="0">
                <a:latin typeface="Arial MT"/>
                <a:cs typeface="Arial MT"/>
              </a:rPr>
              <a:t>trap</a:t>
            </a:r>
            <a:r>
              <a:rPr sz="700" spc="50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states[1]</a:t>
            </a:r>
            <a:endParaRPr sz="70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94304" y="1486305"/>
            <a:ext cx="827581" cy="1258377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spc="-20" dirty="0"/>
              <a:pPr marL="38100">
                <a:lnSpc>
                  <a:spcPts val="580"/>
                </a:lnSpc>
              </a:pPr>
              <a:t>8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17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290830"/>
          </a:xfrm>
          <a:custGeom>
            <a:avLst/>
            <a:gdLst/>
            <a:ahLst/>
            <a:cxnLst/>
            <a:rect l="l" t="t" r="r" b="b"/>
            <a:pathLst>
              <a:path w="4608195" h="290830">
                <a:moveTo>
                  <a:pt x="4608004" y="0"/>
                </a:moveTo>
                <a:lnTo>
                  <a:pt x="0" y="0"/>
                </a:lnTo>
                <a:lnTo>
                  <a:pt x="0" y="290233"/>
                </a:lnTo>
                <a:lnTo>
                  <a:pt x="4608004" y="290233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47014"/>
            <a:ext cx="86486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55" dirty="0"/>
              <a:t>Research</a:t>
            </a:r>
            <a:r>
              <a:rPr spc="30" dirty="0"/>
              <a:t> </a:t>
            </a:r>
            <a:r>
              <a:rPr spc="-40" dirty="0"/>
              <a:t>Gaps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183" y="800239"/>
            <a:ext cx="47688" cy="4768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1183" y="994397"/>
            <a:ext cx="47688" cy="4768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1183" y="1188554"/>
            <a:ext cx="47688" cy="4768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1183" y="1805063"/>
            <a:ext cx="47688" cy="4768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1183" y="1999221"/>
            <a:ext cx="47688" cy="4768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4843" y="506385"/>
            <a:ext cx="4248785" cy="1696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30" dirty="0">
                <a:latin typeface="Arial"/>
                <a:cs typeface="Arial"/>
              </a:rPr>
              <a:t>Experimental-</a:t>
            </a:r>
            <a:r>
              <a:rPr sz="800" b="1" spc="-35" dirty="0">
                <a:latin typeface="Arial"/>
                <a:cs typeface="Arial"/>
              </a:rPr>
              <a:t>Based</a:t>
            </a:r>
            <a:r>
              <a:rPr sz="800" b="1" spc="125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Challenges</a:t>
            </a:r>
            <a:endParaRPr sz="800">
              <a:latin typeface="Arial"/>
              <a:cs typeface="Arial"/>
            </a:endParaRPr>
          </a:p>
          <a:p>
            <a:pPr marL="227329" marR="327660">
              <a:lnSpc>
                <a:spcPct val="159200"/>
              </a:lnSpc>
              <a:spcBef>
                <a:spcPts val="285"/>
              </a:spcBef>
            </a:pPr>
            <a:r>
              <a:rPr sz="800" dirty="0">
                <a:latin typeface="Arial MT"/>
                <a:cs typeface="Arial MT"/>
              </a:rPr>
              <a:t>It’s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still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hard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to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make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large,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uniform,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defect-</a:t>
            </a:r>
            <a:r>
              <a:rPr sz="800" dirty="0">
                <a:latin typeface="Arial MT"/>
                <a:cs typeface="Arial MT"/>
              </a:rPr>
              <a:t>free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wafers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of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2D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materials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like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MoS2 </a:t>
            </a:r>
            <a:r>
              <a:rPr sz="800" dirty="0">
                <a:latin typeface="Arial MT"/>
                <a:cs typeface="Arial MT"/>
              </a:rPr>
              <a:t>Fabrication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imperfections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spc="-35" dirty="0">
                <a:latin typeface="Arial MT"/>
                <a:cs typeface="Arial MT"/>
              </a:rPr>
              <a:t>cause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variability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in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performance(Device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to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Device).</a:t>
            </a:r>
            <a:endParaRPr sz="800">
              <a:latin typeface="Arial MT"/>
              <a:cs typeface="Arial MT"/>
            </a:endParaRPr>
          </a:p>
          <a:p>
            <a:pPr marL="227329" marR="83820">
              <a:lnSpc>
                <a:spcPts val="950"/>
              </a:lnSpc>
              <a:spcBef>
                <a:spcPts val="610"/>
              </a:spcBef>
            </a:pPr>
            <a:r>
              <a:rPr sz="800" dirty="0">
                <a:latin typeface="Arial MT"/>
                <a:cs typeface="Arial MT"/>
              </a:rPr>
              <a:t>Forming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low-</a:t>
            </a:r>
            <a:r>
              <a:rPr sz="800" spc="-10" dirty="0">
                <a:latin typeface="Arial MT"/>
                <a:cs typeface="Arial MT"/>
              </a:rPr>
              <a:t>resistance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electrical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contacts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with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atomically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thin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channels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is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difficult.High </a:t>
            </a:r>
            <a:r>
              <a:rPr sz="800" dirty="0">
                <a:latin typeface="Arial MT"/>
                <a:cs typeface="Arial MT"/>
              </a:rPr>
              <a:t>contact</a:t>
            </a:r>
            <a:r>
              <a:rPr sz="800" spc="15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resistance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wastes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power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15" dirty="0">
                <a:latin typeface="Arial MT"/>
                <a:cs typeface="Arial MT"/>
              </a:rPr>
              <a:t> </a:t>
            </a:r>
            <a:r>
              <a:rPr sz="800" spc="-30" dirty="0">
                <a:latin typeface="Arial MT"/>
                <a:cs typeface="Arial MT"/>
              </a:rPr>
              <a:t>reduces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speed,performance.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800" b="1" spc="-35" dirty="0">
                <a:latin typeface="Arial"/>
                <a:cs typeface="Arial"/>
              </a:rPr>
              <a:t>Simulation-</a:t>
            </a:r>
            <a:r>
              <a:rPr sz="800" b="1" spc="-20" dirty="0">
                <a:latin typeface="Arial"/>
                <a:cs typeface="Arial"/>
              </a:rPr>
              <a:t>Based</a:t>
            </a:r>
            <a:r>
              <a:rPr sz="800" b="1" spc="45" dirty="0">
                <a:latin typeface="Arial"/>
                <a:cs typeface="Arial"/>
              </a:rPr>
              <a:t> </a:t>
            </a:r>
            <a:r>
              <a:rPr sz="800" b="1" spc="-45" dirty="0">
                <a:latin typeface="Arial"/>
                <a:cs typeface="Arial"/>
              </a:rPr>
              <a:t>Research</a:t>
            </a:r>
            <a:r>
              <a:rPr sz="800" b="1" spc="50" dirty="0">
                <a:latin typeface="Arial"/>
                <a:cs typeface="Arial"/>
              </a:rPr>
              <a:t> </a:t>
            </a:r>
            <a:r>
              <a:rPr sz="800" b="1" spc="-20" dirty="0">
                <a:latin typeface="Arial"/>
                <a:cs typeface="Arial"/>
              </a:rPr>
              <a:t>Gaps</a:t>
            </a:r>
            <a:endParaRPr sz="800">
              <a:latin typeface="Arial"/>
              <a:cs typeface="Arial"/>
            </a:endParaRPr>
          </a:p>
          <a:p>
            <a:pPr marL="227329">
              <a:lnSpc>
                <a:spcPct val="100000"/>
              </a:lnSpc>
              <a:spcBef>
                <a:spcPts val="855"/>
              </a:spcBef>
            </a:pPr>
            <a:r>
              <a:rPr sz="800" spc="-20" dirty="0">
                <a:latin typeface="Arial MT"/>
                <a:cs typeface="Arial MT"/>
              </a:rPr>
              <a:t>Need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spc="-30" dirty="0">
                <a:latin typeface="Arial MT"/>
                <a:cs typeface="Arial MT"/>
              </a:rPr>
              <a:t>precise</a:t>
            </a:r>
            <a:r>
              <a:rPr sz="800" spc="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modeling</a:t>
            </a:r>
            <a:r>
              <a:rPr sz="800" spc="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of</a:t>
            </a:r>
            <a:r>
              <a:rPr sz="800" spc="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material</a:t>
            </a:r>
            <a:r>
              <a:rPr sz="800" spc="1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properties</a:t>
            </a:r>
            <a:r>
              <a:rPr sz="800" spc="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interface</a:t>
            </a:r>
            <a:r>
              <a:rPr sz="800" spc="10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physics</a:t>
            </a:r>
            <a:r>
              <a:rPr sz="800" spc="1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before</a:t>
            </a:r>
            <a:r>
              <a:rPr sz="800" spc="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fabrication</a:t>
            </a:r>
            <a:r>
              <a:rPr sz="800" spc="10" dirty="0">
                <a:latin typeface="Arial MT"/>
                <a:cs typeface="Arial MT"/>
              </a:rPr>
              <a:t> </a:t>
            </a:r>
            <a:r>
              <a:rPr sz="800" spc="-50" dirty="0">
                <a:latin typeface="Arial MT"/>
                <a:cs typeface="Arial MT"/>
              </a:rPr>
              <a:t>.</a:t>
            </a:r>
            <a:endParaRPr sz="800">
              <a:latin typeface="Arial MT"/>
              <a:cs typeface="Arial MT"/>
            </a:endParaRPr>
          </a:p>
          <a:p>
            <a:pPr marL="227329" marR="5080">
              <a:lnSpc>
                <a:spcPts val="950"/>
              </a:lnSpc>
              <a:spcBef>
                <a:spcPts val="605"/>
              </a:spcBef>
            </a:pPr>
            <a:r>
              <a:rPr sz="800" spc="-20" dirty="0">
                <a:latin typeface="Arial MT"/>
                <a:cs typeface="Arial MT"/>
              </a:rPr>
              <a:t>Need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models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that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capture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charge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traps,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contact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resistance,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defects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to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bridge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gap</a:t>
            </a:r>
            <a:r>
              <a:rPr sz="800" spc="500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between</a:t>
            </a:r>
            <a:r>
              <a:rPr sz="800" spc="-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ideal</a:t>
            </a:r>
            <a:r>
              <a:rPr sz="800" spc="-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simulations</a:t>
            </a:r>
            <a:r>
              <a:rPr sz="800" spc="-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10" dirty="0">
                <a:latin typeface="Arial MT"/>
                <a:cs typeface="Arial MT"/>
              </a:rPr>
              <a:t> experiments.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spc="-20" dirty="0"/>
              <a:pPr marL="38100">
                <a:lnSpc>
                  <a:spcPts val="580"/>
                </a:lnSpc>
              </a:pPr>
              <a:t>9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17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290830"/>
          </a:xfrm>
          <a:custGeom>
            <a:avLst/>
            <a:gdLst/>
            <a:ahLst/>
            <a:cxnLst/>
            <a:rect l="l" t="t" r="r" b="b"/>
            <a:pathLst>
              <a:path w="4608195" h="290830">
                <a:moveTo>
                  <a:pt x="4608004" y="0"/>
                </a:moveTo>
                <a:lnTo>
                  <a:pt x="0" y="0"/>
                </a:lnTo>
                <a:lnTo>
                  <a:pt x="0" y="290233"/>
                </a:lnTo>
                <a:lnTo>
                  <a:pt x="4608004" y="290233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47014"/>
            <a:ext cx="7810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20" dirty="0"/>
              <a:t>Current</a:t>
            </a:r>
            <a:r>
              <a:rPr spc="-30" dirty="0"/>
              <a:t> </a:t>
            </a:r>
            <a:r>
              <a:rPr spc="-50" dirty="0"/>
              <a:t>work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183" y="701167"/>
            <a:ext cx="47688" cy="4768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1183" y="859320"/>
            <a:ext cx="47688" cy="4768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1183" y="1017473"/>
            <a:ext cx="47688" cy="4768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1183" y="1295831"/>
            <a:ext cx="47688" cy="4768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1183" y="1574190"/>
            <a:ext cx="47688" cy="4768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4843" y="442620"/>
            <a:ext cx="4381500" cy="121475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800" b="1" spc="-20" dirty="0">
                <a:latin typeface="Arial"/>
                <a:cs typeface="Arial"/>
              </a:rPr>
              <a:t>Device</a:t>
            </a:r>
            <a:r>
              <a:rPr sz="800" b="1" spc="25" dirty="0">
                <a:latin typeface="Arial"/>
                <a:cs typeface="Arial"/>
              </a:rPr>
              <a:t> </a:t>
            </a:r>
            <a:r>
              <a:rPr sz="800" b="1" spc="-25" dirty="0">
                <a:latin typeface="Arial"/>
                <a:cs typeface="Arial"/>
              </a:rPr>
              <a:t>structure</a:t>
            </a:r>
            <a:r>
              <a:rPr sz="800" b="1" spc="25" dirty="0">
                <a:latin typeface="Arial"/>
                <a:cs typeface="Arial"/>
              </a:rPr>
              <a:t> </a:t>
            </a:r>
            <a:r>
              <a:rPr sz="800" b="1" spc="-50" dirty="0">
                <a:latin typeface="Arial"/>
                <a:cs typeface="Arial"/>
              </a:rPr>
              <a:t>:</a:t>
            </a:r>
            <a:endParaRPr sz="800">
              <a:latin typeface="Arial"/>
              <a:cs typeface="Arial"/>
            </a:endParaRPr>
          </a:p>
          <a:p>
            <a:pPr marL="227329" marR="451484">
              <a:lnSpc>
                <a:spcPct val="129700"/>
              </a:lnSpc>
            </a:pPr>
            <a:r>
              <a:rPr sz="800" dirty="0">
                <a:latin typeface="Arial MT"/>
                <a:cs typeface="Arial MT"/>
              </a:rPr>
              <a:t>The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device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is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three-terminal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transistor-</a:t>
            </a:r>
            <a:r>
              <a:rPr sz="800" dirty="0">
                <a:latin typeface="Arial MT"/>
                <a:cs typeface="Arial MT"/>
              </a:rPr>
              <a:t>like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structure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spc="-30" dirty="0">
                <a:latin typeface="Arial MT"/>
                <a:cs typeface="Arial MT"/>
              </a:rPr>
              <a:t>based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on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monolayer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MoS2.. Substrate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(SiO2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spc="195" dirty="0">
                <a:latin typeface="Arial MT"/>
                <a:cs typeface="Arial MT"/>
              </a:rPr>
              <a:t>/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spc="65" dirty="0">
                <a:latin typeface="Arial MT"/>
                <a:cs typeface="Arial MT"/>
              </a:rPr>
              <a:t>p++Si)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285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nm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SiO2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grown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on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heavily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doped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120" dirty="0">
                <a:latin typeface="Arial MT"/>
                <a:cs typeface="Arial MT"/>
              </a:rPr>
              <a:t>p++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silicon.</a:t>
            </a:r>
            <a:endParaRPr sz="800">
              <a:latin typeface="Arial MT"/>
              <a:cs typeface="Arial MT"/>
            </a:endParaRPr>
          </a:p>
          <a:p>
            <a:pPr marL="227329" marR="47625">
              <a:lnSpc>
                <a:spcPts val="950"/>
              </a:lnSpc>
              <a:spcBef>
                <a:spcPts val="325"/>
              </a:spcBef>
            </a:pPr>
            <a:r>
              <a:rPr sz="800" dirty="0">
                <a:latin typeface="Arial MT"/>
                <a:cs typeface="Arial MT"/>
              </a:rPr>
              <a:t>Local</a:t>
            </a:r>
            <a:r>
              <a:rPr sz="800" spc="70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Back-</a:t>
            </a:r>
            <a:r>
              <a:rPr sz="800" dirty="0">
                <a:latin typeface="Arial MT"/>
                <a:cs typeface="Arial MT"/>
              </a:rPr>
              <a:t>Gate</a:t>
            </a:r>
            <a:r>
              <a:rPr sz="800" spc="7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(Pt</a:t>
            </a:r>
            <a:r>
              <a:rPr sz="800" spc="7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40nm</a:t>
            </a:r>
            <a:r>
              <a:rPr sz="800" spc="7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TiN</a:t>
            </a:r>
            <a:r>
              <a:rPr sz="800" spc="7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3Onm</a:t>
            </a:r>
            <a:r>
              <a:rPr sz="800" spc="7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with</a:t>
            </a:r>
            <a:r>
              <a:rPr sz="800" spc="7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HfO2</a:t>
            </a:r>
            <a:r>
              <a:rPr sz="800" spc="7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25nm):</a:t>
            </a:r>
            <a:r>
              <a:rPr sz="800" spc="17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75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back-</a:t>
            </a:r>
            <a:r>
              <a:rPr sz="800" dirty="0">
                <a:latin typeface="Arial MT"/>
                <a:cs typeface="Arial MT"/>
              </a:rPr>
              <a:t>gate</a:t>
            </a:r>
            <a:r>
              <a:rPr sz="800" spc="7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terminal</a:t>
            </a:r>
            <a:r>
              <a:rPr sz="800" spc="7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is</a:t>
            </a:r>
            <a:r>
              <a:rPr sz="800" spc="7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where programming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10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erasing</a:t>
            </a:r>
            <a:r>
              <a:rPr sz="800" spc="10" dirty="0">
                <a:latin typeface="Arial MT"/>
                <a:cs typeface="Arial MT"/>
              </a:rPr>
              <a:t> </a:t>
            </a:r>
            <a:r>
              <a:rPr sz="800" spc="-30" dirty="0">
                <a:latin typeface="Arial MT"/>
                <a:cs typeface="Arial MT"/>
              </a:rPr>
              <a:t>pulses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are</a:t>
            </a:r>
            <a:r>
              <a:rPr sz="800" spc="1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applied.</a:t>
            </a:r>
            <a:endParaRPr sz="800">
              <a:latin typeface="Arial MT"/>
              <a:cs typeface="Arial MT"/>
            </a:endParaRPr>
          </a:p>
          <a:p>
            <a:pPr marL="227329" marR="5080">
              <a:lnSpc>
                <a:spcPts val="950"/>
              </a:lnSpc>
              <a:spcBef>
                <a:spcPts val="290"/>
              </a:spcBef>
            </a:pPr>
            <a:r>
              <a:rPr sz="800" spc="-20" dirty="0">
                <a:latin typeface="Arial MT"/>
                <a:cs typeface="Arial MT"/>
              </a:rPr>
              <a:t>Channel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(Monolayer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MoS2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0.65nm):</a:t>
            </a:r>
            <a:r>
              <a:rPr sz="800" spc="114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2D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material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thickness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(sub-</a:t>
            </a:r>
            <a:r>
              <a:rPr sz="800" dirty="0">
                <a:latin typeface="Arial MT"/>
                <a:cs typeface="Arial MT"/>
              </a:rPr>
              <a:t>nm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scale)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40" dirty="0">
                <a:latin typeface="Arial MT"/>
                <a:cs typeface="Arial MT"/>
              </a:rPr>
              <a:t>ensures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excellent </a:t>
            </a:r>
            <a:r>
              <a:rPr sz="800" dirty="0">
                <a:latin typeface="Arial MT"/>
                <a:cs typeface="Arial MT"/>
              </a:rPr>
              <a:t>gate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electrostatics.</a:t>
            </a:r>
            <a:endParaRPr sz="800">
              <a:latin typeface="Arial MT"/>
              <a:cs typeface="Arial MT"/>
            </a:endParaRPr>
          </a:p>
          <a:p>
            <a:pPr marL="227329">
              <a:lnSpc>
                <a:spcPct val="100000"/>
              </a:lnSpc>
              <a:spcBef>
                <a:spcPts val="254"/>
              </a:spcBef>
            </a:pPr>
            <a:r>
              <a:rPr sz="800" dirty="0">
                <a:latin typeface="Arial MT"/>
                <a:cs typeface="Arial MT"/>
              </a:rPr>
              <a:t>A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40nm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Titanium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metal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is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spc="-30" dirty="0">
                <a:latin typeface="Arial MT"/>
                <a:cs typeface="Arial MT"/>
              </a:rPr>
              <a:t>used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as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source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drain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spc="-50" dirty="0">
                <a:latin typeface="Arial MT"/>
                <a:cs typeface="Arial MT"/>
              </a:rPr>
              <a:t>.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45056" y="1750931"/>
            <a:ext cx="1317816" cy="104449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651927" y="2902917"/>
            <a:ext cx="12725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sz="700" spc="2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2D</a:t>
            </a:r>
            <a:r>
              <a:rPr sz="700" spc="3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Device</a:t>
            </a:r>
            <a:r>
              <a:rPr sz="700" spc="3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structure</a:t>
            </a:r>
            <a:r>
              <a:rPr sz="700" spc="30" dirty="0">
                <a:latin typeface="Arial MT"/>
                <a:cs typeface="Arial MT"/>
              </a:rPr>
              <a:t> </a:t>
            </a:r>
            <a:r>
              <a:rPr sz="700" spc="-25" dirty="0">
                <a:latin typeface="Arial MT"/>
                <a:cs typeface="Arial MT"/>
              </a:rPr>
              <a:t>sde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spc="-20" dirty="0"/>
              <a:pPr marL="38100">
                <a:lnSpc>
                  <a:spcPts val="580"/>
                </a:lnSpc>
              </a:pPr>
              <a:t>10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17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290830"/>
          </a:xfrm>
          <a:custGeom>
            <a:avLst/>
            <a:gdLst/>
            <a:ahLst/>
            <a:cxnLst/>
            <a:rect l="l" t="t" r="r" b="b"/>
            <a:pathLst>
              <a:path w="4608195" h="290830">
                <a:moveTo>
                  <a:pt x="4608004" y="0"/>
                </a:moveTo>
                <a:lnTo>
                  <a:pt x="0" y="0"/>
                </a:lnTo>
                <a:lnTo>
                  <a:pt x="0" y="290233"/>
                </a:lnTo>
                <a:lnTo>
                  <a:pt x="4608004" y="290233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47014"/>
            <a:ext cx="16243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50" dirty="0"/>
              <a:t>TCAD</a:t>
            </a:r>
            <a:r>
              <a:rPr spc="5" dirty="0"/>
              <a:t> </a:t>
            </a:r>
            <a:r>
              <a:rPr spc="-20" dirty="0"/>
              <a:t>Physics</a:t>
            </a:r>
            <a:r>
              <a:rPr spc="10" dirty="0"/>
              <a:t> </a:t>
            </a:r>
            <a:r>
              <a:rPr spc="-50" dirty="0"/>
              <a:t>models</a:t>
            </a:r>
            <a:r>
              <a:rPr spc="5" dirty="0"/>
              <a:t> </a:t>
            </a:r>
            <a:r>
              <a:rPr spc="-45" dirty="0"/>
              <a:t>used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spc="-20" dirty="0"/>
              <a:pPr marL="38100">
                <a:lnSpc>
                  <a:spcPts val="580"/>
                </a:lnSpc>
              </a:pPr>
              <a:t>11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17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39036" y="1027522"/>
          <a:ext cx="4335141" cy="1181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0255"/>
                <a:gridCol w="928369"/>
                <a:gridCol w="937894"/>
                <a:gridCol w="928369"/>
                <a:gridCol w="770254"/>
              </a:tblGrid>
              <a:tr h="215265">
                <a:tc>
                  <a:txBody>
                    <a:bodyPr/>
                    <a:lstStyle/>
                    <a:p>
                      <a:pPr marL="68580">
                        <a:lnSpc>
                          <a:spcPts val="740"/>
                        </a:lnSpc>
                      </a:pPr>
                      <a:r>
                        <a:rPr sz="700" b="1" dirty="0">
                          <a:latin typeface="Arial"/>
                          <a:cs typeface="Arial"/>
                        </a:rPr>
                        <a:t>Trap </a:t>
                      </a:r>
                      <a:r>
                        <a:rPr sz="700" b="1" spc="-10" dirty="0">
                          <a:latin typeface="Arial"/>
                          <a:cs typeface="Arial"/>
                        </a:rPr>
                        <a:t>Location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740"/>
                        </a:lnSpc>
                      </a:pPr>
                      <a:r>
                        <a:rPr sz="700" b="1" dirty="0">
                          <a:latin typeface="Arial"/>
                          <a:cs typeface="Arial"/>
                        </a:rPr>
                        <a:t>TCAD</a:t>
                      </a:r>
                      <a:r>
                        <a:rPr sz="700" b="1" spc="1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b="1" spc="-10" dirty="0">
                          <a:latin typeface="Arial"/>
                          <a:cs typeface="Arial"/>
                        </a:rPr>
                        <a:t>Model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3175">
                        <a:lnSpc>
                          <a:spcPts val="740"/>
                        </a:lnSpc>
                      </a:pPr>
                      <a:r>
                        <a:rPr sz="700" b="1" spc="-10" dirty="0">
                          <a:latin typeface="Arial"/>
                          <a:cs typeface="Arial"/>
                        </a:rPr>
                        <a:t>Role</a:t>
                      </a:r>
                      <a:r>
                        <a:rPr sz="7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b="1" dirty="0">
                          <a:latin typeface="Arial"/>
                          <a:cs typeface="Arial"/>
                        </a:rPr>
                        <a:t>in </a:t>
                      </a:r>
                      <a:r>
                        <a:rPr sz="700" b="1" spc="-10" dirty="0">
                          <a:latin typeface="Arial"/>
                          <a:cs typeface="Arial"/>
                        </a:rPr>
                        <a:t>Operation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740"/>
                        </a:lnSpc>
                      </a:pPr>
                      <a:r>
                        <a:rPr sz="700" b="1" spc="-20" dirty="0">
                          <a:latin typeface="Arial"/>
                          <a:cs typeface="Arial"/>
                        </a:rPr>
                        <a:t>Trapping</a:t>
                      </a:r>
                      <a:r>
                        <a:rPr sz="700" b="1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b="1" spc="-10" dirty="0">
                          <a:latin typeface="Arial"/>
                          <a:cs typeface="Arial"/>
                        </a:rPr>
                        <a:t>Physics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735"/>
                        </a:lnSpc>
                      </a:pPr>
                      <a:r>
                        <a:rPr sz="700" b="1" spc="-10" dirty="0">
                          <a:latin typeface="Arial"/>
                          <a:cs typeface="Arial"/>
                        </a:rPr>
                        <a:t>Parameters</a:t>
                      </a:r>
                      <a:endParaRPr sz="700">
                        <a:latin typeface="Arial"/>
                        <a:cs typeface="Arial"/>
                      </a:endParaRPr>
                    </a:p>
                    <a:p>
                      <a:pPr marL="68580">
                        <a:lnSpc>
                          <a:spcPts val="835"/>
                        </a:lnSpc>
                      </a:pPr>
                      <a:r>
                        <a:rPr sz="700" b="1" spc="-20" dirty="0">
                          <a:latin typeface="Arial"/>
                          <a:cs typeface="Arial"/>
                        </a:rPr>
                        <a:t>Used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1945">
                <a:tc>
                  <a:txBody>
                    <a:bodyPr/>
                    <a:lstStyle/>
                    <a:p>
                      <a:pPr marL="68580" marR="2222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700" spc="-10" dirty="0">
                          <a:latin typeface="Arial MT"/>
                          <a:cs typeface="Arial MT"/>
                        </a:rPr>
                        <a:t>MoS</a:t>
                      </a:r>
                      <a:r>
                        <a:rPr sz="750" spc="-15" baseline="-11111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/HfO</a:t>
                      </a:r>
                      <a:r>
                        <a:rPr sz="750" spc="-15" baseline="-11111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750" spc="750" baseline="-11111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Interface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735"/>
                        </a:lnSpc>
                      </a:pPr>
                      <a:r>
                        <a:rPr sz="700" smtClean="0">
                          <a:latin typeface="Arial MT"/>
                          <a:cs typeface="Arial MT"/>
                        </a:rPr>
                        <a:t>Donor</a:t>
                      </a:r>
                      <a:r>
                        <a:rPr sz="700" spc="35" smtClean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uniform,</a:t>
                      </a:r>
                      <a:endParaRPr sz="700">
                        <a:latin typeface="Arial MT"/>
                        <a:cs typeface="Arial MT"/>
                      </a:endParaRPr>
                    </a:p>
                    <a:p>
                      <a:pPr marL="68580" marR="170815">
                        <a:lnSpc>
                          <a:spcPts val="840"/>
                        </a:lnSpc>
                        <a:spcBef>
                          <a:spcPts val="20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Acceptor</a:t>
                      </a:r>
                      <a:r>
                        <a:rPr sz="7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uniform</a:t>
                      </a:r>
                      <a:r>
                        <a:rPr sz="700" spc="5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(10</a:t>
                      </a:r>
                      <a:r>
                        <a:rPr sz="750" baseline="27777" dirty="0">
                          <a:latin typeface="Arial MT"/>
                          <a:cs typeface="Arial MT"/>
                        </a:rPr>
                        <a:t>12</a:t>
                      </a:r>
                      <a:r>
                        <a:rPr sz="750" spc="240" baseline="27777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35" dirty="0">
                          <a:latin typeface="Arial MT"/>
                          <a:cs typeface="Arial MT"/>
                        </a:rPr>
                        <a:t>cm</a:t>
                      </a:r>
                      <a:r>
                        <a:rPr sz="750" i="1" spc="52" baseline="27777" dirty="0">
                          <a:latin typeface="Arial"/>
                          <a:cs typeface="Arial"/>
                        </a:rPr>
                        <a:t>−</a:t>
                      </a:r>
                      <a:r>
                        <a:rPr sz="750" spc="52" baseline="27777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700" spc="35" dirty="0">
                          <a:latin typeface="Arial MT"/>
                          <a:cs typeface="Arial MT"/>
                        </a:rPr>
                        <a:t>)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3175">
                        <a:lnSpc>
                          <a:spcPts val="740"/>
                        </a:lnSpc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Primary</a:t>
                      </a:r>
                      <a:r>
                        <a:rPr sz="700" spc="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function</a:t>
                      </a:r>
                      <a:r>
                        <a:rPr sz="700" spc="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is</a:t>
                      </a:r>
                      <a:endParaRPr sz="700">
                        <a:latin typeface="Arial MT"/>
                        <a:cs typeface="Arial MT"/>
                      </a:endParaRPr>
                    </a:p>
                    <a:p>
                      <a:pPr marL="68580" marR="188595">
                        <a:lnSpc>
                          <a:spcPts val="830"/>
                        </a:lnSpc>
                        <a:spcBef>
                          <a:spcPts val="30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700" spc="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cause</a:t>
                      </a:r>
                      <a:r>
                        <a:rPr sz="700" spc="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mobility</a:t>
                      </a:r>
                      <a:r>
                        <a:rPr sz="700" spc="5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degradation.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740"/>
                        </a:lnSpc>
                      </a:pPr>
                      <a:r>
                        <a:rPr sz="700" spc="-10" dirty="0">
                          <a:latin typeface="Arial MT"/>
                          <a:cs typeface="Arial MT"/>
                        </a:rPr>
                        <a:t>Shockley–Read–Hall</a:t>
                      </a:r>
                      <a:endParaRPr sz="700">
                        <a:latin typeface="Arial MT"/>
                        <a:cs typeface="Arial MT"/>
                      </a:endParaRPr>
                    </a:p>
                    <a:p>
                      <a:pPr marL="68580" marR="271145">
                        <a:lnSpc>
                          <a:spcPts val="830"/>
                        </a:lnSpc>
                        <a:spcBef>
                          <a:spcPts val="30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(SRH)</a:t>
                      </a:r>
                      <a:r>
                        <a:rPr sz="700" spc="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kinetics</a:t>
                      </a:r>
                      <a:r>
                        <a:rPr sz="700" spc="5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(local</a:t>
                      </a:r>
                      <a:r>
                        <a:rPr sz="700" spc="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capture)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835"/>
                        </a:lnSpc>
                        <a:spcBef>
                          <a:spcPts val="325"/>
                        </a:spcBef>
                      </a:pPr>
                      <a:r>
                        <a:rPr sz="700" spc="-1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700" i="1" spc="-1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0</a:t>
                      </a:r>
                      <a:r>
                        <a:rPr sz="7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i="1" dirty="0">
                          <a:latin typeface="Verdana"/>
                          <a:cs typeface="Verdana"/>
                        </a:rPr>
                        <a:t>×</a:t>
                      </a:r>
                      <a:r>
                        <a:rPr sz="700" i="1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10</a:t>
                      </a:r>
                      <a:r>
                        <a:rPr sz="750" i="1" baseline="27777" dirty="0">
                          <a:latin typeface="Arial"/>
                          <a:cs typeface="Arial"/>
                        </a:rPr>
                        <a:t>−</a:t>
                      </a:r>
                      <a:r>
                        <a:rPr sz="750" baseline="27777" dirty="0">
                          <a:latin typeface="Arial MT"/>
                          <a:cs typeface="Arial MT"/>
                        </a:rPr>
                        <a:t>15</a:t>
                      </a:r>
                      <a:r>
                        <a:rPr sz="750" spc="337" baseline="27777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cm</a:t>
                      </a:r>
                      <a:r>
                        <a:rPr sz="750" spc="-37" baseline="27777" dirty="0">
                          <a:latin typeface="Arial MT"/>
                          <a:cs typeface="Arial MT"/>
                        </a:rPr>
                        <a:t>2</a:t>
                      </a:r>
                      <a:endParaRPr sz="750" baseline="27777">
                        <a:latin typeface="Arial MT"/>
                        <a:cs typeface="Arial MT"/>
                      </a:endParaRPr>
                    </a:p>
                    <a:p>
                      <a:pPr marL="68580">
                        <a:lnSpc>
                          <a:spcPts val="835"/>
                        </a:lnSpc>
                      </a:pPr>
                      <a:r>
                        <a:rPr sz="700" spc="-30" dirty="0">
                          <a:latin typeface="Arial MT"/>
                          <a:cs typeface="Arial MT"/>
                        </a:rPr>
                        <a:t>cross-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sections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1945">
                <a:tc>
                  <a:txBody>
                    <a:bodyPr/>
                    <a:lstStyle/>
                    <a:p>
                      <a:pPr marL="68580" marR="27559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HfO</a:t>
                      </a:r>
                      <a:r>
                        <a:rPr sz="750" baseline="-11111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750" spc="292" baseline="-11111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Bulk</a:t>
                      </a:r>
                      <a:r>
                        <a:rPr sz="700" spc="5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(25</a:t>
                      </a:r>
                      <a:r>
                        <a:rPr sz="700" spc="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nm)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12509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Acceptor</a:t>
                      </a:r>
                      <a:r>
                        <a:rPr sz="7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40" dirty="0">
                          <a:latin typeface="Arial MT"/>
                          <a:cs typeface="Arial MT"/>
                        </a:rPr>
                        <a:t>Gaussian</a:t>
                      </a:r>
                      <a:r>
                        <a:rPr sz="700" spc="65" dirty="0">
                          <a:latin typeface="Arial MT"/>
                          <a:cs typeface="Arial MT"/>
                        </a:rPr>
                        <a:t> (e</a:t>
                      </a:r>
                      <a:r>
                        <a:rPr sz="750" i="1" spc="97" baseline="27777" dirty="0">
                          <a:latin typeface="Arial"/>
                          <a:cs typeface="Arial"/>
                        </a:rPr>
                        <a:t>−</a:t>
                      </a:r>
                      <a:r>
                        <a:rPr sz="750" i="1" spc="232" baseline="27777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trap)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3175">
                        <a:lnSpc>
                          <a:spcPts val="735"/>
                        </a:lnSpc>
                      </a:pPr>
                      <a:r>
                        <a:rPr sz="700" spc="-25" dirty="0">
                          <a:latin typeface="Arial MT"/>
                          <a:cs typeface="Arial MT"/>
                        </a:rPr>
                        <a:t>Erase</a:t>
                      </a:r>
                      <a:r>
                        <a:rPr sz="7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operation;</a:t>
                      </a:r>
                      <a:endParaRPr sz="700">
                        <a:latin typeface="Arial MT"/>
                        <a:cs typeface="Arial MT"/>
                      </a:endParaRPr>
                    </a:p>
                    <a:p>
                      <a:pPr marL="68580">
                        <a:lnSpc>
                          <a:spcPts val="840"/>
                        </a:lnSpc>
                        <a:spcBef>
                          <a:spcPts val="20"/>
                        </a:spcBef>
                      </a:pPr>
                      <a:r>
                        <a:rPr sz="700" spc="-20" dirty="0">
                          <a:latin typeface="Arial MT"/>
                          <a:cs typeface="Arial MT"/>
                        </a:rPr>
                        <a:t>stores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negative</a:t>
                      </a:r>
                      <a:r>
                        <a:rPr sz="7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35" dirty="0">
                          <a:latin typeface="Arial MT"/>
                          <a:cs typeface="Arial MT"/>
                        </a:rPr>
                        <a:t>charge</a:t>
                      </a:r>
                      <a:r>
                        <a:rPr sz="700" spc="5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(5</a:t>
                      </a:r>
                      <a:r>
                        <a:rPr sz="7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i="1" dirty="0">
                          <a:latin typeface="Verdana"/>
                          <a:cs typeface="Verdana"/>
                        </a:rPr>
                        <a:t>×</a:t>
                      </a:r>
                      <a:r>
                        <a:rPr sz="700" i="1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10</a:t>
                      </a:r>
                      <a:r>
                        <a:rPr sz="750" baseline="27777" dirty="0">
                          <a:latin typeface="Arial MT"/>
                          <a:cs typeface="Arial MT"/>
                        </a:rPr>
                        <a:t>18</a:t>
                      </a:r>
                      <a:r>
                        <a:rPr sz="750" spc="217" baseline="27777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35" dirty="0">
                          <a:latin typeface="Arial MT"/>
                          <a:cs typeface="Arial MT"/>
                        </a:rPr>
                        <a:t>cm</a:t>
                      </a:r>
                      <a:r>
                        <a:rPr sz="750" i="1" spc="52" baseline="27777" dirty="0">
                          <a:latin typeface="Arial"/>
                          <a:cs typeface="Arial"/>
                        </a:rPr>
                        <a:t>−</a:t>
                      </a:r>
                      <a:r>
                        <a:rPr sz="750" spc="52" baseline="27777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700" spc="35" dirty="0">
                          <a:latin typeface="Arial MT"/>
                          <a:cs typeface="Arial MT"/>
                        </a:rPr>
                        <a:t>)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740"/>
                        </a:lnSpc>
                      </a:pPr>
                      <a:r>
                        <a:rPr sz="700" spc="-10" dirty="0">
                          <a:latin typeface="Arial MT"/>
                          <a:cs typeface="Arial MT"/>
                        </a:rPr>
                        <a:t>eBarrierTunneling</a:t>
                      </a:r>
                      <a:endParaRPr sz="700">
                        <a:latin typeface="Arial MT"/>
                        <a:cs typeface="Arial MT"/>
                      </a:endParaRPr>
                    </a:p>
                    <a:p>
                      <a:pPr marL="68580" marR="302260">
                        <a:lnSpc>
                          <a:spcPts val="830"/>
                        </a:lnSpc>
                        <a:spcBef>
                          <a:spcPts val="30"/>
                        </a:spcBef>
                      </a:pPr>
                      <a:r>
                        <a:rPr sz="700" spc="-25" dirty="0">
                          <a:latin typeface="Arial MT"/>
                          <a:cs typeface="Arial MT"/>
                        </a:rPr>
                        <a:t>Poole–Frenkel</a:t>
                      </a:r>
                      <a:r>
                        <a:rPr sz="700" spc="5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(Detrapping)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1384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700" i="1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750" baseline="-11111" dirty="0">
                          <a:latin typeface="Arial MT"/>
                          <a:cs typeface="Arial MT"/>
                        </a:rPr>
                        <a:t>mid</a:t>
                      </a:r>
                      <a:r>
                        <a:rPr sz="750" spc="157" baseline="-11111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165" dirty="0">
                          <a:latin typeface="Arial MT"/>
                          <a:cs typeface="Arial MT"/>
                        </a:rPr>
                        <a:t>=</a:t>
                      </a:r>
                      <a:r>
                        <a:rPr sz="7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700" i="1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0</a:t>
                      </a:r>
                      <a:r>
                        <a:rPr sz="700" spc="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eV</a:t>
                      </a:r>
                      <a:r>
                        <a:rPr sz="700" spc="5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from</a:t>
                      </a:r>
                      <a:r>
                        <a:rPr sz="700" spc="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i="1" spc="-2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750" i="1" spc="-37" baseline="-11111" dirty="0">
                          <a:latin typeface="Arial"/>
                          <a:cs typeface="Arial"/>
                        </a:rPr>
                        <a:t>C</a:t>
                      </a:r>
                      <a:endParaRPr sz="750" baseline="-11111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1945">
                <a:tc>
                  <a:txBody>
                    <a:bodyPr/>
                    <a:lstStyle/>
                    <a:p>
                      <a:pPr marL="68580" marR="27559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HfO</a:t>
                      </a:r>
                      <a:r>
                        <a:rPr sz="750" baseline="-11111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750" spc="292" baseline="-11111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Bulk</a:t>
                      </a:r>
                      <a:r>
                        <a:rPr sz="700" spc="5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(25</a:t>
                      </a:r>
                      <a:r>
                        <a:rPr sz="700" spc="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nm)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2324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Donor</a:t>
                      </a:r>
                      <a:r>
                        <a:rPr sz="700" spc="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40" dirty="0">
                          <a:latin typeface="Arial MT"/>
                          <a:cs typeface="Arial MT"/>
                        </a:rPr>
                        <a:t>Gaussian</a:t>
                      </a:r>
                      <a:r>
                        <a:rPr sz="700" spc="60" dirty="0">
                          <a:latin typeface="Arial MT"/>
                          <a:cs typeface="Arial MT"/>
                        </a:rPr>
                        <a:t> (h</a:t>
                      </a:r>
                      <a:r>
                        <a:rPr sz="750" spc="89" baseline="27777" dirty="0">
                          <a:latin typeface="Arial MT"/>
                          <a:cs typeface="Arial MT"/>
                        </a:rPr>
                        <a:t>+</a:t>
                      </a:r>
                      <a:r>
                        <a:rPr sz="750" spc="225" baseline="27777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trap)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3175">
                        <a:lnSpc>
                          <a:spcPts val="735"/>
                        </a:lnSpc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Program</a:t>
                      </a:r>
                      <a:r>
                        <a:rPr sz="7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operation;</a:t>
                      </a:r>
                      <a:endParaRPr sz="700">
                        <a:latin typeface="Arial MT"/>
                        <a:cs typeface="Arial MT"/>
                      </a:endParaRPr>
                    </a:p>
                    <a:p>
                      <a:pPr marL="68580" marR="18415">
                        <a:lnSpc>
                          <a:spcPts val="840"/>
                        </a:lnSpc>
                        <a:spcBef>
                          <a:spcPts val="20"/>
                        </a:spcBef>
                      </a:pPr>
                      <a:r>
                        <a:rPr sz="700" spc="-20" dirty="0">
                          <a:latin typeface="Arial MT"/>
                          <a:cs typeface="Arial MT"/>
                        </a:rPr>
                        <a:t>stores</a:t>
                      </a:r>
                      <a:r>
                        <a:rPr sz="7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positive</a:t>
                      </a:r>
                      <a:r>
                        <a:rPr sz="7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charge</a:t>
                      </a:r>
                      <a:r>
                        <a:rPr sz="700" spc="5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(1</a:t>
                      </a:r>
                      <a:r>
                        <a:rPr sz="7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i="1" dirty="0">
                          <a:latin typeface="Verdana"/>
                          <a:cs typeface="Verdana"/>
                        </a:rPr>
                        <a:t>×</a:t>
                      </a:r>
                      <a:r>
                        <a:rPr sz="700" i="1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10</a:t>
                      </a:r>
                      <a:r>
                        <a:rPr sz="750" baseline="27777" dirty="0">
                          <a:latin typeface="Arial MT"/>
                          <a:cs typeface="Arial MT"/>
                        </a:rPr>
                        <a:t>18</a:t>
                      </a:r>
                      <a:r>
                        <a:rPr sz="750" spc="217" baseline="27777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35" dirty="0">
                          <a:latin typeface="Arial MT"/>
                          <a:cs typeface="Arial MT"/>
                        </a:rPr>
                        <a:t>cm</a:t>
                      </a:r>
                      <a:r>
                        <a:rPr sz="750" i="1" spc="52" baseline="27777" dirty="0">
                          <a:latin typeface="Arial"/>
                          <a:cs typeface="Arial"/>
                        </a:rPr>
                        <a:t>−</a:t>
                      </a:r>
                      <a:r>
                        <a:rPr sz="750" spc="52" baseline="27777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700" spc="35" dirty="0">
                          <a:latin typeface="Arial MT"/>
                          <a:cs typeface="Arial MT"/>
                        </a:rPr>
                        <a:t>)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740"/>
                        </a:lnSpc>
                      </a:pPr>
                      <a:r>
                        <a:rPr sz="700" spc="-10" dirty="0">
                          <a:latin typeface="Arial MT"/>
                          <a:cs typeface="Arial MT"/>
                        </a:rPr>
                        <a:t>hBarrierTunneling</a:t>
                      </a:r>
                      <a:endParaRPr sz="700">
                        <a:latin typeface="Arial MT"/>
                        <a:cs typeface="Arial MT"/>
                      </a:endParaRPr>
                    </a:p>
                    <a:p>
                      <a:pPr marL="68580" marR="128270">
                        <a:lnSpc>
                          <a:spcPts val="830"/>
                        </a:lnSpc>
                        <a:spcBef>
                          <a:spcPts val="30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and 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Poole–Frenkel</a:t>
                      </a:r>
                      <a:r>
                        <a:rPr sz="700" spc="5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(Detrapping)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1384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700" i="1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750" baseline="-11111" dirty="0">
                          <a:latin typeface="Arial MT"/>
                          <a:cs typeface="Arial MT"/>
                        </a:rPr>
                        <a:t>mid</a:t>
                      </a:r>
                      <a:r>
                        <a:rPr sz="750" spc="157" baseline="-11111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165" dirty="0">
                          <a:latin typeface="Arial MT"/>
                          <a:cs typeface="Arial MT"/>
                        </a:rPr>
                        <a:t>=</a:t>
                      </a:r>
                      <a:r>
                        <a:rPr sz="7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700" i="1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5</a:t>
                      </a:r>
                      <a:r>
                        <a:rPr sz="700" spc="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eV</a:t>
                      </a:r>
                      <a:r>
                        <a:rPr sz="700" spc="5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from</a:t>
                      </a:r>
                      <a:r>
                        <a:rPr sz="700" spc="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i="1" spc="-2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750" i="1" spc="-37" baseline="-11111" dirty="0">
                          <a:latin typeface="Arial"/>
                          <a:cs typeface="Arial"/>
                        </a:rPr>
                        <a:t>V</a:t>
                      </a:r>
                      <a:endParaRPr sz="750" baseline="-11111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531177" y="2276337"/>
            <a:ext cx="3545204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3333B2"/>
                </a:solidFill>
                <a:latin typeface="Arial MT"/>
                <a:cs typeface="Arial MT"/>
              </a:rPr>
              <a:t>Table:</a:t>
            </a:r>
            <a:r>
              <a:rPr sz="700" spc="4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Summary</a:t>
            </a:r>
            <a:r>
              <a:rPr sz="700" spc="4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of</a:t>
            </a:r>
            <a:r>
              <a:rPr sz="700" spc="4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trap</a:t>
            </a:r>
            <a:r>
              <a:rPr sz="700" spc="4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locations,</a:t>
            </a:r>
            <a:r>
              <a:rPr sz="700" spc="4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TCAD</a:t>
            </a:r>
            <a:r>
              <a:rPr sz="700" spc="4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models,</a:t>
            </a:r>
            <a:r>
              <a:rPr sz="700" spc="4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trapping</a:t>
            </a:r>
            <a:r>
              <a:rPr sz="700" spc="4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physics,</a:t>
            </a:r>
            <a:r>
              <a:rPr sz="700" spc="4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and</a:t>
            </a:r>
            <a:r>
              <a:rPr sz="700" spc="40" dirty="0">
                <a:latin typeface="Arial MT"/>
                <a:cs typeface="Arial MT"/>
              </a:rPr>
              <a:t> </a:t>
            </a:r>
            <a:r>
              <a:rPr sz="700" spc="-20" dirty="0">
                <a:latin typeface="Arial MT"/>
                <a:cs typeface="Arial MT"/>
              </a:rPr>
              <a:t>parameters</a:t>
            </a:r>
            <a:r>
              <a:rPr sz="700" spc="4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used.</a:t>
            </a:r>
            <a:endParaRPr sz="7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290830"/>
          </a:xfrm>
          <a:custGeom>
            <a:avLst/>
            <a:gdLst/>
            <a:ahLst/>
            <a:cxnLst/>
            <a:rect l="l" t="t" r="r" b="b"/>
            <a:pathLst>
              <a:path w="4608195" h="290830">
                <a:moveTo>
                  <a:pt x="4608004" y="0"/>
                </a:moveTo>
                <a:lnTo>
                  <a:pt x="0" y="0"/>
                </a:lnTo>
                <a:lnTo>
                  <a:pt x="0" y="290233"/>
                </a:lnTo>
                <a:lnTo>
                  <a:pt x="4608004" y="290233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20" dirty="0"/>
              <a:t>Simulation</a:t>
            </a:r>
            <a:r>
              <a:rPr spc="-35" dirty="0"/>
              <a:t> </a:t>
            </a:r>
            <a:r>
              <a:rPr spc="-25" dirty="0"/>
              <a:t>result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4843" y="403122"/>
            <a:ext cx="110553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dirty="0">
                <a:latin typeface="Arial"/>
                <a:cs typeface="Arial"/>
              </a:rPr>
              <a:t>Id</a:t>
            </a:r>
            <a:r>
              <a:rPr sz="800" b="1" spc="10" dirty="0">
                <a:latin typeface="Arial"/>
                <a:cs typeface="Arial"/>
              </a:rPr>
              <a:t> </a:t>
            </a:r>
            <a:r>
              <a:rPr sz="800" b="1" spc="-50" dirty="0">
                <a:latin typeface="Arial"/>
                <a:cs typeface="Arial"/>
              </a:rPr>
              <a:t>vs</a:t>
            </a:r>
            <a:r>
              <a:rPr sz="800" b="1" spc="15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Vgs</a:t>
            </a:r>
            <a:r>
              <a:rPr sz="800" b="1" spc="15" dirty="0">
                <a:latin typeface="Arial"/>
                <a:cs typeface="Arial"/>
              </a:rPr>
              <a:t> </a:t>
            </a:r>
            <a:r>
              <a:rPr sz="800" b="1" spc="-35" dirty="0">
                <a:latin typeface="Arial"/>
                <a:cs typeface="Arial"/>
              </a:rPr>
              <a:t>characteristic</a:t>
            </a:r>
            <a:endParaRPr sz="8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71334" y="587336"/>
          <a:ext cx="3275328" cy="549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8075"/>
                <a:gridCol w="916939"/>
                <a:gridCol w="1250314"/>
              </a:tblGrid>
              <a:tr h="106045">
                <a:tc>
                  <a:txBody>
                    <a:bodyPr/>
                    <a:lstStyle/>
                    <a:p>
                      <a:pPr marL="78105">
                        <a:lnSpc>
                          <a:spcPts val="720"/>
                        </a:lnSpc>
                      </a:pPr>
                      <a:r>
                        <a:rPr sz="700" b="1" spc="-10" dirty="0">
                          <a:latin typeface="Arial"/>
                          <a:cs typeface="Arial"/>
                        </a:rPr>
                        <a:t>Parameter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</a:pPr>
                      <a:r>
                        <a:rPr sz="1050" b="1" spc="-15" baseline="7936" dirty="0">
                          <a:latin typeface="Arial"/>
                          <a:cs typeface="Arial"/>
                        </a:rPr>
                        <a:t>Al</a:t>
                      </a:r>
                      <a:r>
                        <a:rPr sz="500" spc="-10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500" spc="-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b="1" baseline="7936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500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500" spc="1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b="1" spc="-15" baseline="7936" dirty="0">
                          <a:latin typeface="Arial"/>
                          <a:cs typeface="Arial"/>
                        </a:rPr>
                        <a:t>Device</a:t>
                      </a:r>
                      <a:endParaRPr sz="1050" baseline="7936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</a:pPr>
                      <a:r>
                        <a:rPr sz="1050" b="1" baseline="7936" dirty="0">
                          <a:latin typeface="Arial"/>
                          <a:cs typeface="Arial"/>
                        </a:rPr>
                        <a:t>HfO</a:t>
                      </a:r>
                      <a:r>
                        <a:rPr sz="500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500" spc="2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b="1" spc="-15" baseline="7936" dirty="0">
                          <a:latin typeface="Arial"/>
                          <a:cs typeface="Arial"/>
                        </a:rPr>
                        <a:t>Device</a:t>
                      </a:r>
                      <a:endParaRPr sz="1050" baseline="7936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6045">
                <a:tc>
                  <a:txBody>
                    <a:bodyPr/>
                    <a:lstStyle/>
                    <a:p>
                      <a:pPr marL="78105">
                        <a:lnSpc>
                          <a:spcPts val="735"/>
                        </a:lnSpc>
                      </a:pPr>
                      <a:r>
                        <a:rPr sz="1050" spc="15" baseline="7936" dirty="0">
                          <a:latin typeface="Arial MT"/>
                          <a:cs typeface="Arial MT"/>
                        </a:rPr>
                        <a:t>Permittivity</a:t>
                      </a:r>
                      <a:r>
                        <a:rPr sz="1050" spc="209" baseline="7936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15" baseline="7936" dirty="0">
                          <a:latin typeface="Arial MT"/>
                          <a:cs typeface="Arial MT"/>
                        </a:rPr>
                        <a:t>(</a:t>
                      </a:r>
                      <a:r>
                        <a:rPr sz="1050" i="1" spc="15" baseline="7936" dirty="0">
                          <a:latin typeface="Calibri"/>
                          <a:cs typeface="Calibri"/>
                        </a:rPr>
                        <a:t>ε</a:t>
                      </a:r>
                      <a:r>
                        <a:rPr sz="500" i="1" spc="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500" i="1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spc="-75" baseline="7936" dirty="0">
                          <a:latin typeface="Arial MT"/>
                          <a:cs typeface="Arial MT"/>
                        </a:rPr>
                        <a:t>)</a:t>
                      </a:r>
                      <a:endParaRPr sz="1050" baseline="7936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20"/>
                        </a:lnSpc>
                      </a:pPr>
                      <a:r>
                        <a:rPr sz="700" i="1" spc="229" dirty="0">
                          <a:latin typeface="Times New Roman"/>
                          <a:cs typeface="Times New Roman"/>
                        </a:rPr>
                        <a:t>≈</a:t>
                      </a:r>
                      <a:r>
                        <a:rPr sz="700" i="1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50" dirty="0">
                          <a:latin typeface="Arial MT"/>
                          <a:cs typeface="Arial MT"/>
                        </a:rPr>
                        <a:t>9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20"/>
                        </a:lnSpc>
                      </a:pPr>
                      <a:r>
                        <a:rPr sz="700" i="1" spc="229" dirty="0">
                          <a:latin typeface="Times New Roman"/>
                          <a:cs typeface="Times New Roman"/>
                        </a:rPr>
                        <a:t>≈</a:t>
                      </a:r>
                      <a:r>
                        <a:rPr sz="700" i="1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25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6045">
                <a:tc>
                  <a:txBody>
                    <a:bodyPr/>
                    <a:lstStyle/>
                    <a:p>
                      <a:pPr marL="78105">
                        <a:lnSpc>
                          <a:spcPts val="720"/>
                        </a:lnSpc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Threshold Voltage</a:t>
                      </a:r>
                      <a:r>
                        <a:rPr sz="7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(</a:t>
                      </a:r>
                      <a:r>
                        <a:rPr sz="700" i="1" spc="-20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750" spc="-30" baseline="-11111" dirty="0">
                          <a:latin typeface="Arial MT"/>
                          <a:cs typeface="Arial MT"/>
                        </a:rPr>
                        <a:t>th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)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20"/>
                        </a:lnSpc>
                      </a:pPr>
                      <a:r>
                        <a:rPr sz="700" i="1" spc="229" dirty="0">
                          <a:latin typeface="Times New Roman"/>
                          <a:cs typeface="Times New Roman"/>
                        </a:rPr>
                        <a:t>≈</a:t>
                      </a:r>
                      <a:r>
                        <a:rPr sz="700" i="1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700" i="1" dirty="0">
                          <a:latin typeface="Calibri"/>
                          <a:cs typeface="Calibri"/>
                        </a:rPr>
                        <a:t>.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7</a:t>
                      </a:r>
                      <a:r>
                        <a:rPr sz="700" spc="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50" dirty="0">
                          <a:latin typeface="Arial MT"/>
                          <a:cs typeface="Arial MT"/>
                        </a:rPr>
                        <a:t>V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20"/>
                        </a:lnSpc>
                      </a:pPr>
                      <a:r>
                        <a:rPr sz="700" spc="-10" dirty="0">
                          <a:latin typeface="Arial MT"/>
                          <a:cs typeface="Arial MT"/>
                        </a:rPr>
                        <a:t>Lower</a:t>
                      </a:r>
                      <a:r>
                        <a:rPr sz="7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1.2V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5570">
                <a:tc>
                  <a:txBody>
                    <a:bodyPr/>
                    <a:lstStyle/>
                    <a:p>
                      <a:pPr marL="78105">
                        <a:lnSpc>
                          <a:spcPts val="755"/>
                        </a:lnSpc>
                        <a:spcBef>
                          <a:spcPts val="55"/>
                        </a:spcBef>
                      </a:pPr>
                      <a:r>
                        <a:rPr sz="1050" i="1" spc="-37" baseline="7936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500" spc="-25" dirty="0">
                          <a:latin typeface="Arial MT"/>
                          <a:cs typeface="Arial MT"/>
                        </a:rPr>
                        <a:t>ON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95"/>
                        </a:lnSpc>
                      </a:pPr>
                      <a:r>
                        <a:rPr sz="700" i="1" spc="229" dirty="0">
                          <a:latin typeface="Times New Roman"/>
                          <a:cs typeface="Times New Roman"/>
                        </a:rPr>
                        <a:t>≈</a:t>
                      </a:r>
                      <a:r>
                        <a:rPr sz="700" i="1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6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i="1" spc="140" dirty="0">
                          <a:latin typeface="Times New Roman"/>
                          <a:cs typeface="Times New Roman"/>
                        </a:rPr>
                        <a:t>×</a:t>
                      </a:r>
                      <a:r>
                        <a:rPr sz="700" i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50" dirty="0">
                          <a:latin typeface="Arial MT"/>
                          <a:cs typeface="Arial MT"/>
                        </a:rPr>
                        <a:t>10</a:t>
                      </a:r>
                      <a:r>
                        <a:rPr sz="750" i="1" spc="75" baseline="33333" dirty="0">
                          <a:latin typeface="Arial"/>
                          <a:cs typeface="Arial"/>
                        </a:rPr>
                        <a:t>−</a:t>
                      </a:r>
                      <a:r>
                        <a:rPr sz="750" spc="75" baseline="33333" dirty="0">
                          <a:latin typeface="Arial MT"/>
                          <a:cs typeface="Arial MT"/>
                        </a:rPr>
                        <a:t>7</a:t>
                      </a:r>
                      <a:r>
                        <a:rPr sz="750" spc="217" baseline="33333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55" dirty="0">
                          <a:latin typeface="Arial MT"/>
                          <a:cs typeface="Arial MT"/>
                        </a:rPr>
                        <a:t>A/</a:t>
                      </a:r>
                      <a:r>
                        <a:rPr sz="700" i="1" spc="55" dirty="0">
                          <a:latin typeface="Calibri"/>
                          <a:cs typeface="Calibri"/>
                        </a:rPr>
                        <a:t>µ</a:t>
                      </a:r>
                      <a:r>
                        <a:rPr sz="700" spc="55" dirty="0">
                          <a:latin typeface="Arial MT"/>
                          <a:cs typeface="Arial MT"/>
                        </a:rPr>
                        <a:t>m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95"/>
                        </a:lnSpc>
                      </a:pPr>
                      <a:r>
                        <a:rPr sz="700" spc="5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700" i="1" spc="50" dirty="0">
                          <a:latin typeface="Times New Roman"/>
                          <a:cs typeface="Times New Roman"/>
                        </a:rPr>
                        <a:t>×</a:t>
                      </a:r>
                      <a:r>
                        <a:rPr sz="700" spc="50" dirty="0">
                          <a:latin typeface="Arial MT"/>
                          <a:cs typeface="Arial MT"/>
                        </a:rPr>
                        <a:t>10</a:t>
                      </a:r>
                      <a:r>
                        <a:rPr sz="750" i="1" spc="75" baseline="33333" dirty="0">
                          <a:latin typeface="Arial"/>
                          <a:cs typeface="Arial"/>
                        </a:rPr>
                        <a:t>−</a:t>
                      </a:r>
                      <a:r>
                        <a:rPr sz="750" spc="75" baseline="33333" dirty="0">
                          <a:latin typeface="Arial MT"/>
                          <a:cs typeface="Arial MT"/>
                        </a:rPr>
                        <a:t>5</a:t>
                      </a:r>
                      <a:r>
                        <a:rPr sz="750" spc="254" baseline="33333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55" dirty="0">
                          <a:latin typeface="Arial MT"/>
                          <a:cs typeface="Arial MT"/>
                        </a:rPr>
                        <a:t>A/</a:t>
                      </a:r>
                      <a:r>
                        <a:rPr sz="700" i="1" spc="55" dirty="0">
                          <a:latin typeface="Calibri"/>
                          <a:cs typeface="Calibri"/>
                        </a:rPr>
                        <a:t>µ</a:t>
                      </a:r>
                      <a:r>
                        <a:rPr sz="700" spc="55" dirty="0">
                          <a:latin typeface="Arial MT"/>
                          <a:cs typeface="Arial MT"/>
                        </a:rPr>
                        <a:t>m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5570">
                <a:tc>
                  <a:txBody>
                    <a:bodyPr/>
                    <a:lstStyle/>
                    <a:p>
                      <a:pPr marL="78105">
                        <a:lnSpc>
                          <a:spcPts val="755"/>
                        </a:lnSpc>
                        <a:spcBef>
                          <a:spcPts val="55"/>
                        </a:spcBef>
                      </a:pPr>
                      <a:r>
                        <a:rPr sz="1050" i="1" spc="-30" baseline="7936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500" spc="-20" dirty="0">
                          <a:latin typeface="Arial MT"/>
                          <a:cs typeface="Arial MT"/>
                        </a:rPr>
                        <a:t>OFF</a:t>
                      </a:r>
                      <a:endParaRPr sz="50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95"/>
                        </a:lnSpc>
                      </a:pPr>
                      <a:r>
                        <a:rPr sz="700" i="1" spc="229" dirty="0">
                          <a:latin typeface="Times New Roman"/>
                          <a:cs typeface="Times New Roman"/>
                        </a:rPr>
                        <a:t>≈</a:t>
                      </a:r>
                      <a:r>
                        <a:rPr sz="700" i="1" spc="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10</a:t>
                      </a:r>
                      <a:r>
                        <a:rPr sz="750" i="1" baseline="33333" dirty="0">
                          <a:latin typeface="Arial"/>
                          <a:cs typeface="Arial"/>
                        </a:rPr>
                        <a:t>−</a:t>
                      </a:r>
                      <a:r>
                        <a:rPr sz="750" baseline="33333" dirty="0">
                          <a:latin typeface="Arial MT"/>
                          <a:cs typeface="Arial MT"/>
                        </a:rPr>
                        <a:t>13</a:t>
                      </a:r>
                      <a:r>
                        <a:rPr sz="750" spc="390" baseline="33333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55" dirty="0">
                          <a:latin typeface="Arial MT"/>
                          <a:cs typeface="Arial MT"/>
                        </a:rPr>
                        <a:t>A/</a:t>
                      </a:r>
                      <a:r>
                        <a:rPr sz="700" i="1" spc="55" dirty="0">
                          <a:latin typeface="Calibri"/>
                          <a:cs typeface="Calibri"/>
                        </a:rPr>
                        <a:t>µ</a:t>
                      </a:r>
                      <a:r>
                        <a:rPr sz="700" spc="55" dirty="0">
                          <a:latin typeface="Arial MT"/>
                          <a:cs typeface="Arial MT"/>
                        </a:rPr>
                        <a:t>m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95"/>
                        </a:lnSpc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slightly</a:t>
                      </a:r>
                      <a:r>
                        <a:rPr sz="700" spc="1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higher</a:t>
                      </a:r>
                      <a:r>
                        <a:rPr sz="700" spc="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10</a:t>
                      </a:r>
                      <a:r>
                        <a:rPr sz="750" i="1" baseline="33333" dirty="0">
                          <a:latin typeface="Arial"/>
                          <a:cs typeface="Arial"/>
                        </a:rPr>
                        <a:t>−</a:t>
                      </a:r>
                      <a:r>
                        <a:rPr sz="750" baseline="33333" dirty="0">
                          <a:latin typeface="Arial MT"/>
                          <a:cs typeface="Arial MT"/>
                        </a:rPr>
                        <a:t>11</a:t>
                      </a:r>
                      <a:r>
                        <a:rPr sz="750" spc="315" baseline="33333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55" dirty="0">
                          <a:latin typeface="Arial MT"/>
                          <a:cs typeface="Arial MT"/>
                        </a:rPr>
                        <a:t>A/</a:t>
                      </a:r>
                      <a:r>
                        <a:rPr sz="700" i="1" spc="55" dirty="0">
                          <a:latin typeface="Calibri"/>
                          <a:cs typeface="Calibri"/>
                        </a:rPr>
                        <a:t>µ</a:t>
                      </a:r>
                      <a:r>
                        <a:rPr sz="700" spc="55" dirty="0">
                          <a:latin typeface="Arial MT"/>
                          <a:cs typeface="Arial MT"/>
                        </a:rPr>
                        <a:t>m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345438" y="1216916"/>
            <a:ext cx="19177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50" baseline="7936" dirty="0">
                <a:solidFill>
                  <a:srgbClr val="3333B2"/>
                </a:solidFill>
                <a:latin typeface="Arial MT"/>
                <a:cs typeface="Arial MT"/>
              </a:rPr>
              <a:t>Table:</a:t>
            </a:r>
            <a:r>
              <a:rPr sz="1050" spc="37" baseline="7936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1050" spc="-15" baseline="7936" dirty="0">
                <a:latin typeface="Arial MT"/>
                <a:cs typeface="Arial MT"/>
              </a:rPr>
              <a:t>Comparison</a:t>
            </a:r>
            <a:r>
              <a:rPr sz="1050" spc="44" baseline="7936" dirty="0">
                <a:latin typeface="Arial MT"/>
                <a:cs typeface="Arial MT"/>
              </a:rPr>
              <a:t> </a:t>
            </a:r>
            <a:r>
              <a:rPr sz="1050" baseline="7936" dirty="0">
                <a:latin typeface="Arial MT"/>
                <a:cs typeface="Arial MT"/>
              </a:rPr>
              <a:t>of</a:t>
            </a:r>
            <a:r>
              <a:rPr sz="1050" spc="44" baseline="7936" dirty="0">
                <a:latin typeface="Arial MT"/>
                <a:cs typeface="Arial MT"/>
              </a:rPr>
              <a:t> </a:t>
            </a:r>
            <a:r>
              <a:rPr sz="1050" baseline="7936" dirty="0">
                <a:latin typeface="Arial MT"/>
                <a:cs typeface="Arial MT"/>
              </a:rPr>
              <a:t>Al</a:t>
            </a:r>
            <a:r>
              <a:rPr sz="500" dirty="0">
                <a:latin typeface="Arial MT"/>
                <a:cs typeface="Arial MT"/>
              </a:rPr>
              <a:t>2</a:t>
            </a:r>
            <a:r>
              <a:rPr sz="500" spc="-90" dirty="0">
                <a:latin typeface="Arial MT"/>
                <a:cs typeface="Arial MT"/>
              </a:rPr>
              <a:t> </a:t>
            </a:r>
            <a:r>
              <a:rPr sz="1050" baseline="7936" dirty="0">
                <a:latin typeface="Arial MT"/>
                <a:cs typeface="Arial MT"/>
              </a:rPr>
              <a:t>O</a:t>
            </a:r>
            <a:r>
              <a:rPr sz="500" dirty="0">
                <a:latin typeface="Arial MT"/>
                <a:cs typeface="Arial MT"/>
              </a:rPr>
              <a:t>3</a:t>
            </a:r>
            <a:r>
              <a:rPr sz="500" spc="130" dirty="0">
                <a:latin typeface="Arial MT"/>
                <a:cs typeface="Arial MT"/>
              </a:rPr>
              <a:t> </a:t>
            </a:r>
            <a:r>
              <a:rPr sz="1050" baseline="7936" dirty="0">
                <a:latin typeface="Arial MT"/>
                <a:cs typeface="Arial MT"/>
              </a:rPr>
              <a:t>and</a:t>
            </a:r>
            <a:r>
              <a:rPr sz="1050" spc="44" baseline="7936" dirty="0">
                <a:latin typeface="Arial MT"/>
                <a:cs typeface="Arial MT"/>
              </a:rPr>
              <a:t> </a:t>
            </a:r>
            <a:r>
              <a:rPr sz="1050" baseline="7936" dirty="0">
                <a:latin typeface="Arial MT"/>
                <a:cs typeface="Arial MT"/>
              </a:rPr>
              <a:t>HfO</a:t>
            </a:r>
            <a:r>
              <a:rPr sz="500" dirty="0">
                <a:latin typeface="Arial MT"/>
                <a:cs typeface="Arial MT"/>
              </a:rPr>
              <a:t>2</a:t>
            </a:r>
            <a:r>
              <a:rPr sz="500" spc="125" dirty="0">
                <a:latin typeface="Arial MT"/>
                <a:cs typeface="Arial MT"/>
              </a:rPr>
              <a:t> </a:t>
            </a:r>
            <a:r>
              <a:rPr sz="1050" spc="-15" baseline="7936" dirty="0">
                <a:latin typeface="Arial MT"/>
                <a:cs typeface="Arial MT"/>
              </a:rPr>
              <a:t>Devices</a:t>
            </a:r>
            <a:endParaRPr sz="1050" baseline="7936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543" y="1481664"/>
            <a:ext cx="1786740" cy="134005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53072" y="2946707"/>
            <a:ext cx="118745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sz="700" spc="-1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Ids</a:t>
            </a:r>
            <a:r>
              <a:rPr sz="700" spc="-1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vs</a:t>
            </a:r>
            <a:r>
              <a:rPr sz="700" spc="-1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Vgs</a:t>
            </a:r>
            <a:r>
              <a:rPr sz="700" spc="-1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linear</a:t>
            </a:r>
            <a:r>
              <a:rPr sz="700" spc="-15" dirty="0">
                <a:latin typeface="Arial MT"/>
                <a:cs typeface="Arial MT"/>
              </a:rPr>
              <a:t> </a:t>
            </a:r>
            <a:r>
              <a:rPr sz="700" spc="-25" dirty="0">
                <a:latin typeface="Arial MT"/>
                <a:cs typeface="Arial MT"/>
              </a:rPr>
              <a:t>scale</a:t>
            </a:r>
            <a:endParaRPr sz="70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51885" y="1458658"/>
            <a:ext cx="1797458" cy="136135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968917" y="2947164"/>
            <a:ext cx="115189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3333B2"/>
                </a:solidFill>
                <a:latin typeface="Arial MT"/>
                <a:cs typeface="Arial MT"/>
              </a:rPr>
              <a:t>Figure: </a:t>
            </a:r>
            <a:r>
              <a:rPr sz="700" dirty="0">
                <a:latin typeface="Arial MT"/>
                <a:cs typeface="Arial MT"/>
              </a:rPr>
              <a:t>Id</a:t>
            </a:r>
            <a:r>
              <a:rPr sz="700" spc="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vs Vgs</a:t>
            </a:r>
            <a:r>
              <a:rPr sz="700" spc="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linear </a:t>
            </a:r>
            <a:r>
              <a:rPr sz="700" spc="-25" dirty="0">
                <a:latin typeface="Arial MT"/>
                <a:cs typeface="Arial MT"/>
              </a:rPr>
              <a:t>scale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spc="-20" dirty="0"/>
              <a:pPr marL="38100">
                <a:lnSpc>
                  <a:spcPts val="580"/>
                </a:lnSpc>
              </a:pPr>
              <a:t>12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17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290830"/>
          </a:xfrm>
          <a:custGeom>
            <a:avLst/>
            <a:gdLst/>
            <a:ahLst/>
            <a:cxnLst/>
            <a:rect l="l" t="t" r="r" b="b"/>
            <a:pathLst>
              <a:path w="4608195" h="290830">
                <a:moveTo>
                  <a:pt x="4608004" y="0"/>
                </a:moveTo>
                <a:lnTo>
                  <a:pt x="0" y="0"/>
                </a:lnTo>
                <a:lnTo>
                  <a:pt x="0" y="290233"/>
                </a:lnTo>
                <a:lnTo>
                  <a:pt x="4608004" y="290233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60" dirty="0"/>
              <a:t>Id</a:t>
            </a:r>
            <a:r>
              <a:rPr spc="-30" dirty="0"/>
              <a:t> </a:t>
            </a:r>
            <a:r>
              <a:rPr spc="-20" dirty="0"/>
              <a:t>vs</a:t>
            </a:r>
            <a:r>
              <a:rPr spc="-50" dirty="0"/>
              <a:t> </a:t>
            </a:r>
            <a:r>
              <a:rPr dirty="0"/>
              <a:t>Vgs</a:t>
            </a:r>
            <a:r>
              <a:rPr spc="-40" dirty="0"/>
              <a:t> </a:t>
            </a:r>
            <a:r>
              <a:rPr spc="-30" dirty="0"/>
              <a:t>characteristic</a:t>
            </a:r>
            <a:r>
              <a:rPr spc="-40" dirty="0"/>
              <a:t> </a:t>
            </a:r>
            <a:r>
              <a:rPr dirty="0"/>
              <a:t>at</a:t>
            </a:r>
            <a:r>
              <a:rPr spc="-40" dirty="0"/>
              <a:t> </a:t>
            </a:r>
            <a:r>
              <a:rPr spc="-35" dirty="0"/>
              <a:t>different</a:t>
            </a:r>
            <a:r>
              <a:rPr spc="-40" dirty="0"/>
              <a:t> </a:t>
            </a:r>
            <a:r>
              <a:rPr spc="-10" dirty="0"/>
              <a:t>trap</a:t>
            </a:r>
            <a:r>
              <a:rPr spc="-40" dirty="0"/>
              <a:t> </a:t>
            </a:r>
            <a:r>
              <a:rPr spc="-25" dirty="0"/>
              <a:t>concentration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183" y="760031"/>
            <a:ext cx="47688" cy="4768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1183" y="918184"/>
            <a:ext cx="47688" cy="4768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4843" y="501485"/>
            <a:ext cx="3761740" cy="492571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800" b="1" dirty="0">
                <a:latin typeface="Arial"/>
                <a:cs typeface="Arial"/>
              </a:rPr>
              <a:t>Id</a:t>
            </a:r>
            <a:r>
              <a:rPr sz="800" b="1" spc="10" dirty="0">
                <a:latin typeface="Arial"/>
                <a:cs typeface="Arial"/>
              </a:rPr>
              <a:t> </a:t>
            </a:r>
            <a:r>
              <a:rPr sz="800" b="1" spc="-50" dirty="0">
                <a:latin typeface="Arial"/>
                <a:cs typeface="Arial"/>
              </a:rPr>
              <a:t>vs</a:t>
            </a:r>
            <a:r>
              <a:rPr sz="800" b="1" spc="15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Vgs</a:t>
            </a:r>
            <a:r>
              <a:rPr sz="800" b="1" spc="15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characteristic</a:t>
            </a:r>
            <a:endParaRPr sz="800">
              <a:latin typeface="Arial"/>
              <a:cs typeface="Arial"/>
            </a:endParaRPr>
          </a:p>
          <a:p>
            <a:pPr marL="227329" marR="1085215">
              <a:lnSpc>
                <a:spcPct val="129700"/>
              </a:lnSpc>
            </a:pPr>
            <a:r>
              <a:rPr sz="800" spc="-10" dirty="0">
                <a:latin typeface="Arial MT"/>
                <a:cs typeface="Arial MT"/>
              </a:rPr>
              <a:t>Varied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>
                <a:latin typeface="Arial MT"/>
                <a:cs typeface="Arial MT"/>
              </a:rPr>
              <a:t>the</a:t>
            </a:r>
            <a:r>
              <a:rPr sz="800" spc="40">
                <a:latin typeface="Arial MT"/>
                <a:cs typeface="Arial MT"/>
              </a:rPr>
              <a:t> </a:t>
            </a:r>
            <a:r>
              <a:rPr sz="800" spc="45" smtClean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trap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concentration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in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HfO2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bulk</a:t>
            </a:r>
            <a:r>
              <a:rPr sz="800" spc="-10">
                <a:latin typeface="Arial MT"/>
                <a:cs typeface="Arial MT"/>
              </a:rPr>
              <a:t>. </a:t>
            </a:r>
            <a:r>
              <a:rPr lang="en-US" sz="800" spc="-10" dirty="0" smtClean="0">
                <a:latin typeface="Arial MT"/>
                <a:cs typeface="Arial MT"/>
              </a:rPr>
              <a:t>   </a:t>
            </a:r>
            <a:r>
              <a:rPr sz="800" spc="-10" smtClean="0">
                <a:latin typeface="Arial MT"/>
                <a:cs typeface="Arial MT"/>
              </a:rPr>
              <a:t>Gate</a:t>
            </a:r>
            <a:r>
              <a:rPr sz="800" spc="45" smtClean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voltage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spc="-40" dirty="0">
                <a:latin typeface="Arial MT"/>
                <a:cs typeface="Arial MT"/>
              </a:rPr>
              <a:t>sweep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>
                <a:latin typeface="Arial MT"/>
                <a:cs typeface="Arial MT"/>
              </a:rPr>
              <a:t>from</a:t>
            </a:r>
            <a:r>
              <a:rPr sz="800" spc="50">
                <a:latin typeface="Arial MT"/>
                <a:cs typeface="Arial MT"/>
              </a:rPr>
              <a:t> </a:t>
            </a:r>
            <a:r>
              <a:rPr sz="800" spc="-10" smtClean="0">
                <a:latin typeface="Arial MT"/>
                <a:cs typeface="Arial MT"/>
              </a:rPr>
              <a:t>-</a:t>
            </a:r>
            <a:r>
              <a:rPr lang="en-US" sz="800" spc="-10" dirty="0">
                <a:latin typeface="Arial MT"/>
                <a:cs typeface="Arial MT"/>
              </a:rPr>
              <a:t>2</a:t>
            </a:r>
            <a:r>
              <a:rPr sz="800" smtClean="0">
                <a:latin typeface="Arial MT"/>
                <a:cs typeface="Arial MT"/>
              </a:rPr>
              <a:t>v</a:t>
            </a:r>
            <a:r>
              <a:rPr sz="800" spc="45" smtClean="0">
                <a:latin typeface="Arial MT"/>
                <a:cs typeface="Arial MT"/>
              </a:rPr>
              <a:t> </a:t>
            </a:r>
            <a:r>
              <a:rPr sz="800">
                <a:latin typeface="Arial MT"/>
                <a:cs typeface="Arial MT"/>
              </a:rPr>
              <a:t>to</a:t>
            </a:r>
            <a:r>
              <a:rPr sz="800" spc="50">
                <a:latin typeface="Arial MT"/>
                <a:cs typeface="Arial MT"/>
              </a:rPr>
              <a:t> </a:t>
            </a:r>
            <a:r>
              <a:rPr lang="en-US" sz="800" spc="50" dirty="0">
                <a:latin typeface="Arial MT"/>
                <a:cs typeface="Arial MT"/>
              </a:rPr>
              <a:t>3</a:t>
            </a:r>
            <a:r>
              <a:rPr sz="800" smtClean="0">
                <a:latin typeface="Arial MT"/>
                <a:cs typeface="Arial MT"/>
              </a:rPr>
              <a:t>v</a:t>
            </a:r>
            <a:r>
              <a:rPr sz="800" spc="45" smtClean="0">
                <a:latin typeface="Arial MT"/>
                <a:cs typeface="Arial MT"/>
              </a:rPr>
              <a:t> </a:t>
            </a:r>
            <a:r>
              <a:rPr sz="800">
                <a:latin typeface="Arial MT"/>
                <a:cs typeface="Arial MT"/>
              </a:rPr>
              <a:t>with</a:t>
            </a:r>
            <a:r>
              <a:rPr sz="800" spc="50">
                <a:latin typeface="Arial MT"/>
                <a:cs typeface="Arial MT"/>
              </a:rPr>
              <a:t> </a:t>
            </a:r>
            <a:r>
              <a:rPr sz="800" spc="-10" smtClean="0">
                <a:latin typeface="Arial MT"/>
                <a:cs typeface="Arial MT"/>
              </a:rPr>
              <a:t>Vds=</a:t>
            </a:r>
            <a:r>
              <a:rPr lang="en-US" sz="800" spc="-10" dirty="0" smtClean="0">
                <a:latin typeface="Arial MT"/>
                <a:cs typeface="Arial MT"/>
              </a:rPr>
              <a:t>0.05</a:t>
            </a:r>
            <a:r>
              <a:rPr sz="800" spc="-10" smtClean="0">
                <a:latin typeface="Arial MT"/>
                <a:cs typeface="Arial MT"/>
              </a:rPr>
              <a:t>v.</a:t>
            </a:r>
            <a:r>
              <a:rPr sz="800" spc="-30" smtClean="0">
                <a:latin typeface="Arial MT"/>
                <a:cs typeface="Arial MT"/>
              </a:rPr>
              <a:t>.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7650" y="2873375"/>
            <a:ext cx="19050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sz="700" dirty="0">
                <a:solidFill>
                  <a:srgbClr val="3333B2"/>
                </a:solidFill>
                <a:latin typeface="Arial MT"/>
                <a:cs typeface="Arial MT"/>
              </a:rPr>
              <a:t>Figure</a:t>
            </a:r>
            <a:r>
              <a:rPr sz="700">
                <a:solidFill>
                  <a:srgbClr val="3333B2"/>
                </a:solidFill>
                <a:latin typeface="Arial MT"/>
                <a:cs typeface="Arial MT"/>
              </a:rPr>
              <a:t>:</a:t>
            </a:r>
            <a:r>
              <a:rPr sz="700" spc="-15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lang="en-US" sz="800" spc="-15" dirty="0" smtClean="0">
                <a:solidFill>
                  <a:srgbClr val="3333B2"/>
                </a:solidFill>
                <a:latin typeface="Arial MT"/>
                <a:cs typeface="Arial MT"/>
              </a:rPr>
              <a:t>D</a:t>
            </a:r>
            <a:r>
              <a:rPr lang="en-US" sz="800" dirty="0" smtClean="0"/>
              <a:t>rain </a:t>
            </a:r>
            <a:r>
              <a:rPr lang="en-US" sz="800" dirty="0"/>
              <a:t>current </a:t>
            </a:r>
            <a:r>
              <a:rPr lang="en-US" sz="800" dirty="0" smtClean="0"/>
              <a:t>against </a:t>
            </a:r>
            <a:r>
              <a:rPr lang="en-US" sz="800" dirty="0"/>
              <a:t>TCAD </a:t>
            </a:r>
            <a:endParaRPr lang="en-US" sz="800" dirty="0" smtClean="0"/>
          </a:p>
          <a:p>
            <a:r>
              <a:rPr lang="en-US" sz="800" dirty="0"/>
              <a:t>simulation data at different values of </a:t>
            </a:r>
            <a:r>
              <a:rPr lang="en-US" sz="800" i="1" dirty="0" err="1" smtClean="0"/>
              <a:t>D</a:t>
            </a:r>
            <a:r>
              <a:rPr lang="en-US" sz="800" dirty="0" err="1" smtClean="0"/>
              <a:t>it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86050" y="2797176"/>
            <a:ext cx="1676400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sz="700" dirty="0">
                <a:solidFill>
                  <a:srgbClr val="3333B2"/>
                </a:solidFill>
                <a:latin typeface="Arial MT"/>
                <a:cs typeface="Arial MT"/>
              </a:rPr>
              <a:t>Figure</a:t>
            </a:r>
            <a:r>
              <a:rPr sz="700">
                <a:solidFill>
                  <a:srgbClr val="3333B2"/>
                </a:solidFill>
                <a:latin typeface="Arial MT"/>
                <a:cs typeface="Arial MT"/>
              </a:rPr>
              <a:t>:</a:t>
            </a:r>
            <a:r>
              <a:rPr sz="700" spc="1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lang="en-US" sz="800" dirty="0"/>
              <a:t>drain current </a:t>
            </a:r>
            <a:r>
              <a:rPr lang="en-US" sz="800" dirty="0" smtClean="0"/>
              <a:t>against </a:t>
            </a:r>
            <a:r>
              <a:rPr lang="en-US" sz="800" dirty="0"/>
              <a:t>TCAD </a:t>
            </a:r>
            <a:endParaRPr lang="en-US" sz="800" dirty="0" smtClean="0"/>
          </a:p>
          <a:p>
            <a:r>
              <a:rPr lang="en-US" sz="800" dirty="0"/>
              <a:t>simulation data at different values of </a:t>
            </a:r>
            <a:r>
              <a:rPr lang="en-US" sz="800" dirty="0" err="1"/>
              <a:t>E</a:t>
            </a:r>
            <a:r>
              <a:rPr lang="en-US" sz="800" dirty="0" err="1" smtClean="0"/>
              <a:t>it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spc="-20" dirty="0"/>
              <a:pPr marL="38100">
                <a:lnSpc>
                  <a:spcPts val="580"/>
                </a:lnSpc>
              </a:pPr>
              <a:t>13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17</a:t>
            </a:r>
          </a:p>
        </p:txBody>
      </p:sp>
      <p:pic>
        <p:nvPicPr>
          <p:cNvPr id="15" name="Picture 14" descr="Screenshot 2026-03-31 172334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1120775"/>
            <a:ext cx="2386117" cy="1676400"/>
          </a:xfrm>
          <a:prstGeom prst="rect">
            <a:avLst/>
          </a:prstGeom>
        </p:spPr>
      </p:pic>
      <p:pic>
        <p:nvPicPr>
          <p:cNvPr id="16" name="Picture 15" descr="Screenshot 2026-03-31 173729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381251" y="1120775"/>
            <a:ext cx="2228850" cy="160020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57150" y="0"/>
            <a:ext cx="4608195" cy="290830"/>
          </a:xfrm>
          <a:custGeom>
            <a:avLst/>
            <a:gdLst/>
            <a:ahLst/>
            <a:cxnLst/>
            <a:rect l="l" t="t" r="r" b="b"/>
            <a:pathLst>
              <a:path w="4608195" h="290830">
                <a:moveTo>
                  <a:pt x="4608004" y="0"/>
                </a:moveTo>
                <a:lnTo>
                  <a:pt x="0" y="0"/>
                </a:lnTo>
                <a:lnTo>
                  <a:pt x="0" y="290233"/>
                </a:lnTo>
                <a:lnTo>
                  <a:pt x="4608004" y="290233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47014"/>
            <a:ext cx="16656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Post</a:t>
            </a:r>
            <a:r>
              <a:rPr spc="-25" dirty="0"/>
              <a:t> </a:t>
            </a:r>
            <a:r>
              <a:rPr spc="-30" dirty="0"/>
              <a:t>Programing</a:t>
            </a:r>
            <a:r>
              <a:rPr spc="-20" dirty="0"/>
              <a:t> </a:t>
            </a:r>
            <a:r>
              <a:rPr spc="-45" dirty="0"/>
              <a:t>pulse</a:t>
            </a:r>
            <a:r>
              <a:rPr spc="-25" dirty="0"/>
              <a:t> </a:t>
            </a:r>
            <a:r>
              <a:rPr spc="-20" dirty="0"/>
              <a:t>state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183" y="673392"/>
            <a:ext cx="47688" cy="4768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09943" y="609687"/>
            <a:ext cx="3895725" cy="4254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dirty="0">
                <a:latin typeface="Arial MT"/>
                <a:cs typeface="Arial MT"/>
              </a:rPr>
              <a:t>VP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voltage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spc="-30" dirty="0">
                <a:latin typeface="Arial MT"/>
                <a:cs typeface="Arial MT"/>
              </a:rPr>
              <a:t>pulses</a:t>
            </a:r>
            <a:r>
              <a:rPr sz="800" spc="6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of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different</a:t>
            </a:r>
            <a:r>
              <a:rPr sz="800" spc="6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amplitudes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-</a:t>
            </a:r>
            <a:r>
              <a:rPr sz="800" dirty="0">
                <a:latin typeface="Arial MT"/>
                <a:cs typeface="Arial MT"/>
              </a:rPr>
              <a:t>7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V</a:t>
            </a:r>
            <a:r>
              <a:rPr sz="800" spc="6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to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-</a:t>
            </a:r>
            <a:r>
              <a:rPr sz="800" dirty="0">
                <a:latin typeface="Arial MT"/>
                <a:cs typeface="Arial MT"/>
              </a:rPr>
              <a:t>10</a:t>
            </a:r>
            <a:r>
              <a:rPr sz="800" spc="6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V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applied</a:t>
            </a:r>
            <a:r>
              <a:rPr sz="800" spc="6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to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5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local</a:t>
            </a:r>
            <a:r>
              <a:rPr sz="800" spc="60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back-</a:t>
            </a:r>
            <a:r>
              <a:rPr sz="800" spc="-20" dirty="0">
                <a:latin typeface="Arial MT"/>
                <a:cs typeface="Arial MT"/>
              </a:rPr>
              <a:t>gate </a:t>
            </a:r>
            <a:r>
              <a:rPr sz="800" spc="-10" dirty="0">
                <a:latin typeface="Arial MT"/>
                <a:cs typeface="Arial MT"/>
              </a:rPr>
              <a:t>electrode,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each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for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duration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of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spc="50" dirty="0">
                <a:latin typeface="Arial MT"/>
                <a:cs typeface="Arial MT"/>
              </a:rPr>
              <a:t>P=E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spc="190" dirty="0">
                <a:latin typeface="Arial MT"/>
                <a:cs typeface="Arial MT"/>
              </a:rPr>
              <a:t>=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100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25" dirty="0">
                <a:latin typeface="Microsoft Sans Serif"/>
                <a:cs typeface="Microsoft Sans Serif"/>
              </a:rPr>
              <a:t>µ</a:t>
            </a:r>
            <a:r>
              <a:rPr sz="800" spc="-25" dirty="0">
                <a:latin typeface="Arial MT"/>
                <a:cs typeface="Arial MT"/>
              </a:rPr>
              <a:t>s,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800" dirty="0">
                <a:latin typeface="Arial MT"/>
                <a:cs typeface="Arial MT"/>
              </a:rPr>
              <a:t>Post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progammed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state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Id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vs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Vgs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.</a:t>
            </a:r>
            <a:r>
              <a:rPr sz="800" spc="105" dirty="0">
                <a:latin typeface="Arial MT"/>
                <a:cs typeface="Arial MT"/>
              </a:rPr>
              <a:t> </a:t>
            </a:r>
            <a:r>
              <a:rPr sz="800" spc="-50" dirty="0">
                <a:latin typeface="Arial MT"/>
                <a:cs typeface="Arial MT"/>
              </a:rPr>
              <a:t>.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1183" y="951738"/>
            <a:ext cx="47688" cy="4768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2250" y="1247033"/>
            <a:ext cx="1902445" cy="130021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3169" y="2656283"/>
            <a:ext cx="196532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sz="700" spc="-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Ids</a:t>
            </a:r>
            <a:r>
              <a:rPr sz="700" spc="-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vs Vgs</a:t>
            </a:r>
            <a:r>
              <a:rPr sz="700" spc="-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linear</a:t>
            </a:r>
            <a:r>
              <a:rPr sz="700" spc="-5" dirty="0">
                <a:latin typeface="Arial MT"/>
                <a:cs typeface="Arial MT"/>
              </a:rPr>
              <a:t> </a:t>
            </a:r>
            <a:r>
              <a:rPr sz="700" spc="-25" dirty="0">
                <a:latin typeface="Arial MT"/>
                <a:cs typeface="Arial MT"/>
              </a:rPr>
              <a:t>scale</a:t>
            </a:r>
            <a:r>
              <a:rPr sz="700" dirty="0">
                <a:latin typeface="Arial MT"/>
                <a:cs typeface="Arial MT"/>
              </a:rPr>
              <a:t> post</a:t>
            </a:r>
            <a:r>
              <a:rPr sz="700" spc="-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program</a:t>
            </a:r>
            <a:r>
              <a:rPr sz="700" spc="-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state</a:t>
            </a:r>
            <a:endParaRPr sz="70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97776" y="1245489"/>
            <a:ext cx="1853031" cy="130175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594063" y="2656283"/>
            <a:ext cx="183578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sz="700" spc="1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Id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vs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Vgs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log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spc="-25" dirty="0">
                <a:latin typeface="Arial MT"/>
                <a:cs typeface="Arial MT"/>
              </a:rPr>
              <a:t>scale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post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program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state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spc="-20" dirty="0"/>
              <a:pPr marL="38100">
                <a:lnSpc>
                  <a:spcPts val="580"/>
                </a:lnSpc>
              </a:pPr>
              <a:t>14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17</a:t>
            </a: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290830"/>
          </a:xfrm>
          <a:custGeom>
            <a:avLst/>
            <a:gdLst/>
            <a:ahLst/>
            <a:cxnLst/>
            <a:rect l="l" t="t" r="r" b="b"/>
            <a:pathLst>
              <a:path w="4608195" h="290830">
                <a:moveTo>
                  <a:pt x="4608004" y="0"/>
                </a:moveTo>
                <a:lnTo>
                  <a:pt x="0" y="0"/>
                </a:lnTo>
                <a:lnTo>
                  <a:pt x="0" y="290233"/>
                </a:lnTo>
                <a:lnTo>
                  <a:pt x="4608004" y="290233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47014"/>
            <a:ext cx="15875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40" dirty="0"/>
              <a:t>Challenges</a:t>
            </a:r>
            <a:r>
              <a:rPr spc="-20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spc="-20" dirty="0"/>
              <a:t>Current </a:t>
            </a:r>
            <a:r>
              <a:rPr spc="-50" dirty="0"/>
              <a:t>work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183" y="1367053"/>
            <a:ext cx="47688" cy="4768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1183" y="1645399"/>
            <a:ext cx="47688" cy="4768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1183" y="1923757"/>
            <a:ext cx="47688" cy="4768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4843" y="1108507"/>
            <a:ext cx="4402455" cy="89852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800" dirty="0">
                <a:latin typeface="Arial MT"/>
                <a:cs typeface="Arial MT"/>
              </a:rPr>
              <a:t>The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following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are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current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challenges:.</a:t>
            </a:r>
            <a:endParaRPr sz="800">
              <a:latin typeface="Arial MT"/>
              <a:cs typeface="Arial MT"/>
            </a:endParaRPr>
          </a:p>
          <a:p>
            <a:pPr marL="227329" marR="5080">
              <a:lnSpc>
                <a:spcPts val="950"/>
              </a:lnSpc>
              <a:spcBef>
                <a:spcPts val="325"/>
              </a:spcBef>
            </a:pPr>
            <a:r>
              <a:rPr sz="800" dirty="0">
                <a:latin typeface="Arial MT"/>
                <a:cs typeface="Arial MT"/>
              </a:rPr>
              <a:t>It’s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very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difficult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for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simulation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to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accurately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capture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effect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of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very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fast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powerful </a:t>
            </a:r>
            <a:r>
              <a:rPr sz="800" dirty="0">
                <a:latin typeface="Arial MT"/>
                <a:cs typeface="Arial MT"/>
              </a:rPr>
              <a:t>voltage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spc="-30" dirty="0">
                <a:latin typeface="Arial MT"/>
                <a:cs typeface="Arial MT"/>
              </a:rPr>
              <a:t>pulses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(programing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erase).</a:t>
            </a:r>
            <a:endParaRPr sz="800">
              <a:latin typeface="Arial MT"/>
              <a:cs typeface="Arial MT"/>
            </a:endParaRPr>
          </a:p>
          <a:p>
            <a:pPr marL="227329" marR="133350">
              <a:lnSpc>
                <a:spcPts val="950"/>
              </a:lnSpc>
              <a:spcBef>
                <a:spcPts val="290"/>
              </a:spcBef>
            </a:pPr>
            <a:r>
              <a:rPr sz="800" dirty="0">
                <a:latin typeface="Arial MT"/>
                <a:cs typeface="Arial MT"/>
              </a:rPr>
              <a:t>Creating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mesh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that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is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fine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enough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for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numerical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stability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without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making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computational </a:t>
            </a:r>
            <a:r>
              <a:rPr sz="800" dirty="0">
                <a:latin typeface="Arial MT"/>
                <a:cs typeface="Arial MT"/>
              </a:rPr>
              <a:t>cost </a:t>
            </a:r>
            <a:r>
              <a:rPr sz="800" spc="-50" dirty="0">
                <a:latin typeface="Arial MT"/>
                <a:cs typeface="Arial MT"/>
              </a:rPr>
              <a:t>.</a:t>
            </a:r>
            <a:endParaRPr sz="800">
              <a:latin typeface="Arial MT"/>
              <a:cs typeface="Arial MT"/>
            </a:endParaRPr>
          </a:p>
          <a:p>
            <a:pPr marL="227329">
              <a:lnSpc>
                <a:spcPct val="100000"/>
              </a:lnSpc>
              <a:spcBef>
                <a:spcPts val="254"/>
              </a:spcBef>
            </a:pPr>
            <a:r>
              <a:rPr sz="800" dirty="0">
                <a:latin typeface="Arial MT"/>
                <a:cs typeface="Arial MT"/>
              </a:rPr>
              <a:t>Non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linear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physics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spc="-40" dirty="0">
                <a:latin typeface="Arial MT"/>
                <a:cs typeface="Arial MT"/>
              </a:rPr>
              <a:t>causes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solution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to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diverge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rapidly.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spc="-20" dirty="0"/>
              <a:pPr marL="38100">
                <a:lnSpc>
                  <a:spcPts val="580"/>
                </a:lnSpc>
              </a:pPr>
              <a:t>15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17</a:t>
            </a: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290830"/>
          </a:xfrm>
          <a:custGeom>
            <a:avLst/>
            <a:gdLst/>
            <a:ahLst/>
            <a:cxnLst/>
            <a:rect l="l" t="t" r="r" b="b"/>
            <a:pathLst>
              <a:path w="4608195" h="290830">
                <a:moveTo>
                  <a:pt x="4608004" y="0"/>
                </a:moveTo>
                <a:lnTo>
                  <a:pt x="0" y="0"/>
                </a:lnTo>
                <a:lnTo>
                  <a:pt x="0" y="290233"/>
                </a:lnTo>
                <a:lnTo>
                  <a:pt x="4608004" y="290233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47014"/>
            <a:ext cx="7219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55" dirty="0"/>
              <a:t>References</a:t>
            </a:r>
            <a:r>
              <a:rPr spc="-20" dirty="0"/>
              <a:t> </a:t>
            </a:r>
            <a:r>
              <a:rPr spc="-50" dirty="0"/>
              <a:t>I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42963" y="1082235"/>
            <a:ext cx="106680" cy="144780"/>
            <a:chOff x="142963" y="1082235"/>
            <a:chExt cx="106680" cy="1447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503" y="1084775"/>
              <a:ext cx="101219" cy="13917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5503" y="1084775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0" y="139174"/>
                  </a:moveTo>
                  <a:lnTo>
                    <a:pt x="101219" y="139174"/>
                  </a:lnTo>
                  <a:lnTo>
                    <a:pt x="101219" y="25304"/>
                  </a:lnTo>
                  <a:lnTo>
                    <a:pt x="75914" y="0"/>
                  </a:lnTo>
                  <a:lnTo>
                    <a:pt x="0" y="0"/>
                  </a:lnTo>
                  <a:lnTo>
                    <a:pt x="0" y="139174"/>
                  </a:lnTo>
                  <a:close/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8156" y="1103754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50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0808" y="1122732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50609" y="0"/>
                  </a:lnTo>
                </a:path>
                <a:path w="50800" h="12700">
                  <a:moveTo>
                    <a:pt x="0" y="12652"/>
                  </a:moveTo>
                  <a:lnTo>
                    <a:pt x="50609" y="12652"/>
                  </a:lnTo>
                </a:path>
              </a:pathLst>
            </a:custGeom>
            <a:ln w="507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8156" y="1154363"/>
              <a:ext cx="31750" cy="38100"/>
            </a:xfrm>
            <a:custGeom>
              <a:avLst/>
              <a:gdLst/>
              <a:ahLst/>
              <a:cxnLst/>
              <a:rect l="l" t="t" r="r" b="b"/>
              <a:pathLst>
                <a:path w="31750" h="38100">
                  <a:moveTo>
                    <a:pt x="0" y="0"/>
                  </a:moveTo>
                  <a:lnTo>
                    <a:pt x="31631" y="0"/>
                  </a:lnTo>
                </a:path>
                <a:path w="31750" h="38100">
                  <a:moveTo>
                    <a:pt x="0" y="12652"/>
                  </a:moveTo>
                  <a:lnTo>
                    <a:pt x="31631" y="12652"/>
                  </a:lnTo>
                </a:path>
                <a:path w="31750" h="38100">
                  <a:moveTo>
                    <a:pt x="0" y="25304"/>
                  </a:moveTo>
                  <a:lnTo>
                    <a:pt x="31631" y="25304"/>
                  </a:lnTo>
                </a:path>
                <a:path w="31750" h="38100">
                  <a:moveTo>
                    <a:pt x="0" y="37956"/>
                  </a:moveTo>
                  <a:lnTo>
                    <a:pt x="31631" y="37956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2439" y="1151198"/>
              <a:ext cx="31635" cy="4428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21418" y="108477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4" y="25304"/>
                  </a:moveTo>
                  <a:lnTo>
                    <a:pt x="0" y="25304"/>
                  </a:lnTo>
                  <a:lnTo>
                    <a:pt x="0" y="0"/>
                  </a:lnTo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142963" y="1347932"/>
            <a:ext cx="106680" cy="144780"/>
            <a:chOff x="142963" y="1347932"/>
            <a:chExt cx="106680" cy="14478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503" y="1350472"/>
              <a:ext cx="101219" cy="13917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45503" y="1350472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0" y="139174"/>
                  </a:moveTo>
                  <a:lnTo>
                    <a:pt x="101219" y="139174"/>
                  </a:lnTo>
                  <a:lnTo>
                    <a:pt x="101219" y="25304"/>
                  </a:lnTo>
                  <a:lnTo>
                    <a:pt x="75914" y="0"/>
                  </a:lnTo>
                  <a:lnTo>
                    <a:pt x="0" y="0"/>
                  </a:lnTo>
                  <a:lnTo>
                    <a:pt x="0" y="139174"/>
                  </a:lnTo>
                  <a:close/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58156" y="1369450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50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70808" y="1388429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50609" y="0"/>
                  </a:lnTo>
                </a:path>
                <a:path w="50800" h="12700">
                  <a:moveTo>
                    <a:pt x="0" y="12652"/>
                  </a:moveTo>
                  <a:lnTo>
                    <a:pt x="50609" y="12652"/>
                  </a:lnTo>
                </a:path>
              </a:pathLst>
            </a:custGeom>
            <a:ln w="507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8156" y="1420059"/>
              <a:ext cx="31750" cy="38100"/>
            </a:xfrm>
            <a:custGeom>
              <a:avLst/>
              <a:gdLst/>
              <a:ahLst/>
              <a:cxnLst/>
              <a:rect l="l" t="t" r="r" b="b"/>
              <a:pathLst>
                <a:path w="31750" h="38100">
                  <a:moveTo>
                    <a:pt x="0" y="0"/>
                  </a:moveTo>
                  <a:lnTo>
                    <a:pt x="31631" y="0"/>
                  </a:lnTo>
                </a:path>
                <a:path w="31750" h="38100">
                  <a:moveTo>
                    <a:pt x="0" y="12652"/>
                  </a:moveTo>
                  <a:lnTo>
                    <a:pt x="31631" y="12652"/>
                  </a:lnTo>
                </a:path>
                <a:path w="31750" h="38100">
                  <a:moveTo>
                    <a:pt x="0" y="25304"/>
                  </a:moveTo>
                  <a:lnTo>
                    <a:pt x="31631" y="25304"/>
                  </a:lnTo>
                </a:path>
                <a:path w="31750" h="38100">
                  <a:moveTo>
                    <a:pt x="0" y="37956"/>
                  </a:moveTo>
                  <a:lnTo>
                    <a:pt x="31631" y="37956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2439" y="1416895"/>
              <a:ext cx="31635" cy="4428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21418" y="135047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4" y="25304"/>
                  </a:moveTo>
                  <a:lnTo>
                    <a:pt x="0" y="25304"/>
                  </a:lnTo>
                  <a:lnTo>
                    <a:pt x="0" y="0"/>
                  </a:lnTo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142963" y="1689562"/>
            <a:ext cx="106680" cy="144780"/>
            <a:chOff x="142963" y="1689562"/>
            <a:chExt cx="106680" cy="144780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503" y="1692102"/>
              <a:ext cx="101219" cy="13917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45503" y="1692102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0" y="139174"/>
                  </a:moveTo>
                  <a:lnTo>
                    <a:pt x="101219" y="139174"/>
                  </a:lnTo>
                  <a:lnTo>
                    <a:pt x="101219" y="25304"/>
                  </a:lnTo>
                  <a:lnTo>
                    <a:pt x="75914" y="0"/>
                  </a:lnTo>
                  <a:lnTo>
                    <a:pt x="0" y="0"/>
                  </a:lnTo>
                  <a:lnTo>
                    <a:pt x="0" y="139174"/>
                  </a:lnTo>
                  <a:close/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58156" y="1711080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50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0808" y="1730059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50609" y="0"/>
                  </a:lnTo>
                </a:path>
                <a:path w="50800" h="12700">
                  <a:moveTo>
                    <a:pt x="0" y="12652"/>
                  </a:moveTo>
                  <a:lnTo>
                    <a:pt x="50609" y="12652"/>
                  </a:lnTo>
                </a:path>
              </a:pathLst>
            </a:custGeom>
            <a:ln w="507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58156" y="1761689"/>
              <a:ext cx="31750" cy="38100"/>
            </a:xfrm>
            <a:custGeom>
              <a:avLst/>
              <a:gdLst/>
              <a:ahLst/>
              <a:cxnLst/>
              <a:rect l="l" t="t" r="r" b="b"/>
              <a:pathLst>
                <a:path w="31750" h="38100">
                  <a:moveTo>
                    <a:pt x="0" y="0"/>
                  </a:moveTo>
                  <a:lnTo>
                    <a:pt x="31631" y="0"/>
                  </a:lnTo>
                </a:path>
                <a:path w="31750" h="38100">
                  <a:moveTo>
                    <a:pt x="0" y="12652"/>
                  </a:moveTo>
                  <a:lnTo>
                    <a:pt x="31631" y="12652"/>
                  </a:lnTo>
                </a:path>
                <a:path w="31750" h="38100">
                  <a:moveTo>
                    <a:pt x="0" y="25304"/>
                  </a:moveTo>
                  <a:lnTo>
                    <a:pt x="31631" y="25304"/>
                  </a:lnTo>
                </a:path>
                <a:path w="31750" h="38100">
                  <a:moveTo>
                    <a:pt x="0" y="37956"/>
                  </a:moveTo>
                  <a:lnTo>
                    <a:pt x="31631" y="37956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2439" y="1758525"/>
              <a:ext cx="31635" cy="4428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21418" y="169210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4" y="25304"/>
                  </a:moveTo>
                  <a:lnTo>
                    <a:pt x="0" y="25304"/>
                  </a:lnTo>
                  <a:lnTo>
                    <a:pt x="0" y="0"/>
                  </a:lnTo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142963" y="1955259"/>
            <a:ext cx="106680" cy="144780"/>
            <a:chOff x="142963" y="1955259"/>
            <a:chExt cx="106680" cy="144780"/>
          </a:xfrm>
        </p:grpSpPr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5503" y="1957799"/>
              <a:ext cx="101219" cy="13917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45503" y="1957799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0" y="139174"/>
                  </a:moveTo>
                  <a:lnTo>
                    <a:pt x="101219" y="139174"/>
                  </a:lnTo>
                  <a:lnTo>
                    <a:pt x="101219" y="25304"/>
                  </a:lnTo>
                  <a:lnTo>
                    <a:pt x="75914" y="0"/>
                  </a:lnTo>
                  <a:lnTo>
                    <a:pt x="0" y="0"/>
                  </a:lnTo>
                  <a:lnTo>
                    <a:pt x="0" y="139174"/>
                  </a:lnTo>
                  <a:close/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58156" y="1976777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50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70808" y="1995755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50609" y="0"/>
                  </a:lnTo>
                </a:path>
                <a:path w="50800" h="12700">
                  <a:moveTo>
                    <a:pt x="0" y="12652"/>
                  </a:moveTo>
                  <a:lnTo>
                    <a:pt x="50609" y="12652"/>
                  </a:lnTo>
                </a:path>
              </a:pathLst>
            </a:custGeom>
            <a:ln w="507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58156" y="2027386"/>
              <a:ext cx="31750" cy="38100"/>
            </a:xfrm>
            <a:custGeom>
              <a:avLst/>
              <a:gdLst/>
              <a:ahLst/>
              <a:cxnLst/>
              <a:rect l="l" t="t" r="r" b="b"/>
              <a:pathLst>
                <a:path w="31750" h="38100">
                  <a:moveTo>
                    <a:pt x="0" y="0"/>
                  </a:moveTo>
                  <a:lnTo>
                    <a:pt x="31631" y="0"/>
                  </a:lnTo>
                </a:path>
                <a:path w="31750" h="38100">
                  <a:moveTo>
                    <a:pt x="0" y="12652"/>
                  </a:moveTo>
                  <a:lnTo>
                    <a:pt x="31631" y="12652"/>
                  </a:lnTo>
                </a:path>
                <a:path w="31750" h="38100">
                  <a:moveTo>
                    <a:pt x="0" y="25304"/>
                  </a:moveTo>
                  <a:lnTo>
                    <a:pt x="31631" y="25304"/>
                  </a:lnTo>
                </a:path>
                <a:path w="31750" h="38100">
                  <a:moveTo>
                    <a:pt x="0" y="37956"/>
                  </a:moveTo>
                  <a:lnTo>
                    <a:pt x="31631" y="37956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2439" y="2024222"/>
              <a:ext cx="31635" cy="44283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221418" y="195779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4" y="25304"/>
                  </a:moveTo>
                  <a:lnTo>
                    <a:pt x="0" y="25304"/>
                  </a:lnTo>
                  <a:lnTo>
                    <a:pt x="0" y="0"/>
                  </a:lnTo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29747" rIns="0" bIns="0" rtlCol="0">
            <a:spAutoFit/>
          </a:bodyPr>
          <a:lstStyle/>
          <a:p>
            <a:pPr marL="192405" marR="429259" indent="-180340">
              <a:lnSpc>
                <a:spcPct val="137000"/>
              </a:lnSpc>
              <a:spcBef>
                <a:spcPts val="100"/>
              </a:spcBef>
            </a:pPr>
            <a:r>
              <a:rPr u="sng" spc="229" dirty="0">
                <a:uFill>
                  <a:solidFill>
                    <a:srgbClr val="B2B2B2"/>
                  </a:solidFill>
                </a:uFill>
                <a:latin typeface="Times New Roman"/>
                <a:cs typeface="Times New Roman"/>
              </a:rPr>
              <a:t>  </a:t>
            </a:r>
            <a:r>
              <a:rPr spc="245" dirty="0">
                <a:latin typeface="Times New Roman"/>
                <a:cs typeface="Times New Roman"/>
              </a:rPr>
              <a:t>  </a:t>
            </a:r>
            <a:r>
              <a:rPr dirty="0"/>
              <a:t>[1]</a:t>
            </a:r>
            <a:r>
              <a:rPr spc="45" dirty="0"/>
              <a:t> </a:t>
            </a:r>
            <a:r>
              <a:rPr dirty="0"/>
              <a:t>Zheng,</a:t>
            </a:r>
            <a:r>
              <a:rPr spc="45" dirty="0"/>
              <a:t> </a:t>
            </a:r>
            <a:r>
              <a:rPr dirty="0"/>
              <a:t>Y.,</a:t>
            </a:r>
            <a:r>
              <a:rPr spc="40" dirty="0"/>
              <a:t> </a:t>
            </a:r>
            <a:r>
              <a:rPr spc="-10" dirty="0"/>
              <a:t>Ravichandran,</a:t>
            </a:r>
            <a:r>
              <a:rPr spc="40" dirty="0"/>
              <a:t> </a:t>
            </a:r>
            <a:r>
              <a:rPr dirty="0"/>
              <a:t>H.,</a:t>
            </a:r>
            <a:r>
              <a:rPr spc="40" dirty="0"/>
              <a:t> </a:t>
            </a:r>
            <a:r>
              <a:rPr spc="-10" dirty="0"/>
              <a:t>Schranghamer,</a:t>
            </a:r>
            <a:r>
              <a:rPr spc="40" dirty="0"/>
              <a:t> </a:t>
            </a:r>
            <a:r>
              <a:rPr dirty="0"/>
              <a:t>T.F.</a:t>
            </a:r>
            <a:r>
              <a:rPr spc="45" dirty="0"/>
              <a:t> </a:t>
            </a:r>
            <a:r>
              <a:rPr dirty="0"/>
              <a:t>et</a:t>
            </a:r>
            <a:r>
              <a:rPr spc="40" dirty="0"/>
              <a:t> </a:t>
            </a:r>
            <a:r>
              <a:rPr dirty="0"/>
              <a:t>al.</a:t>
            </a:r>
            <a:r>
              <a:rPr spc="40" dirty="0"/>
              <a:t> </a:t>
            </a:r>
            <a:r>
              <a:rPr spc="-10" dirty="0"/>
              <a:t>Hardware</a:t>
            </a:r>
            <a:r>
              <a:rPr spc="40" dirty="0"/>
              <a:t> </a:t>
            </a:r>
            <a:r>
              <a:rPr dirty="0"/>
              <a:t>implementation</a:t>
            </a:r>
            <a:r>
              <a:rPr spc="40" dirty="0"/>
              <a:t> </a:t>
            </a:r>
            <a:r>
              <a:rPr dirty="0"/>
              <a:t>of</a:t>
            </a:r>
            <a:r>
              <a:rPr spc="40" dirty="0"/>
              <a:t> </a:t>
            </a:r>
            <a:r>
              <a:rPr spc="-20" dirty="0"/>
              <a:t>Bayesian</a:t>
            </a:r>
            <a:r>
              <a:rPr spc="45" dirty="0"/>
              <a:t> </a:t>
            </a:r>
            <a:r>
              <a:rPr dirty="0"/>
              <a:t>network</a:t>
            </a:r>
            <a:r>
              <a:rPr spc="40" dirty="0"/>
              <a:t> </a:t>
            </a:r>
            <a:r>
              <a:rPr spc="-20" dirty="0"/>
              <a:t>based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dirty="0"/>
              <a:t>two-</a:t>
            </a:r>
            <a:r>
              <a:rPr spc="-10" dirty="0"/>
              <a:t>dimensional</a:t>
            </a:r>
            <a:r>
              <a:rPr spc="500" dirty="0"/>
              <a:t> </a:t>
            </a:r>
            <a:r>
              <a:rPr spc="-10" dirty="0"/>
              <a:t>memtransistors.</a:t>
            </a:r>
            <a:r>
              <a:rPr spc="95" dirty="0"/>
              <a:t> </a:t>
            </a:r>
            <a:r>
              <a:rPr dirty="0"/>
              <a:t>Nat</a:t>
            </a:r>
            <a:r>
              <a:rPr spc="95" dirty="0"/>
              <a:t> </a:t>
            </a:r>
            <a:r>
              <a:rPr dirty="0"/>
              <a:t>Commun</a:t>
            </a:r>
            <a:r>
              <a:rPr spc="95" dirty="0"/>
              <a:t> </a:t>
            </a:r>
            <a:r>
              <a:rPr dirty="0"/>
              <a:t>13,</a:t>
            </a:r>
            <a:r>
              <a:rPr spc="95" dirty="0"/>
              <a:t> </a:t>
            </a:r>
            <a:r>
              <a:rPr dirty="0"/>
              <a:t>5578</a:t>
            </a:r>
            <a:r>
              <a:rPr spc="95" dirty="0"/>
              <a:t> </a:t>
            </a:r>
            <a:r>
              <a:rPr dirty="0"/>
              <a:t>(2022).</a:t>
            </a:r>
            <a:r>
              <a:rPr spc="95" dirty="0"/>
              <a:t> </a:t>
            </a:r>
            <a:r>
              <a:rPr dirty="0"/>
              <a:t>https://doi.org/10.1038/s41467-022-33053-</a:t>
            </a:r>
            <a:r>
              <a:rPr spc="-50" dirty="0"/>
              <a:t>x</a:t>
            </a: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/>
          </a:p>
          <a:p>
            <a:pPr marL="12700">
              <a:lnSpc>
                <a:spcPct val="100000"/>
              </a:lnSpc>
            </a:pPr>
            <a:r>
              <a:rPr u="sng" spc="530" dirty="0">
                <a:uFill>
                  <a:solidFill>
                    <a:srgbClr val="B2B2B2"/>
                  </a:solidFill>
                </a:uFill>
                <a:latin typeface="Times New Roman"/>
                <a:cs typeface="Times New Roman"/>
              </a:rPr>
              <a:t> </a:t>
            </a:r>
            <a:r>
              <a:rPr spc="215" dirty="0">
                <a:latin typeface="Times New Roman"/>
                <a:cs typeface="Times New Roman"/>
              </a:rPr>
              <a:t>  </a:t>
            </a:r>
            <a:r>
              <a:rPr dirty="0"/>
              <a:t>[2]</a:t>
            </a:r>
            <a:r>
              <a:rPr spc="35" dirty="0"/>
              <a:t> </a:t>
            </a:r>
            <a:r>
              <a:rPr dirty="0"/>
              <a:t>Logic</a:t>
            </a:r>
            <a:r>
              <a:rPr spc="25" dirty="0"/>
              <a:t> </a:t>
            </a:r>
            <a:r>
              <a:rPr dirty="0"/>
              <a:t>Locking</a:t>
            </a:r>
            <a:r>
              <a:rPr spc="25" dirty="0"/>
              <a:t> </a:t>
            </a:r>
            <a:r>
              <a:rPr dirty="0"/>
              <a:t>of</a:t>
            </a:r>
            <a:r>
              <a:rPr spc="30" dirty="0"/>
              <a:t> </a:t>
            </a:r>
            <a:r>
              <a:rPr dirty="0"/>
              <a:t>Integrated</a:t>
            </a:r>
            <a:r>
              <a:rPr spc="25" dirty="0"/>
              <a:t> </a:t>
            </a:r>
            <a:r>
              <a:rPr dirty="0"/>
              <a:t>Circuits</a:t>
            </a:r>
            <a:r>
              <a:rPr spc="30" dirty="0"/>
              <a:t> </a:t>
            </a:r>
            <a:r>
              <a:rPr spc="-10" dirty="0"/>
              <a:t>Enabled</a:t>
            </a:r>
            <a:r>
              <a:rPr spc="25" dirty="0"/>
              <a:t> </a:t>
            </a:r>
            <a:r>
              <a:rPr dirty="0"/>
              <a:t>by</a:t>
            </a:r>
            <a:r>
              <a:rPr spc="25" dirty="0"/>
              <a:t> </a:t>
            </a:r>
            <a:r>
              <a:rPr spc="-10" dirty="0"/>
              <a:t>Nanoscale</a:t>
            </a:r>
            <a:r>
              <a:rPr spc="30" dirty="0"/>
              <a:t> </a:t>
            </a:r>
            <a:r>
              <a:rPr spc="-10" dirty="0"/>
              <a:t>MoS2-Based</a:t>
            </a:r>
            <a:r>
              <a:rPr spc="25" dirty="0"/>
              <a:t> </a:t>
            </a:r>
            <a:r>
              <a:rPr dirty="0"/>
              <a:t>Memtransistors</a:t>
            </a:r>
            <a:r>
              <a:rPr spc="30" dirty="0"/>
              <a:t> </a:t>
            </a:r>
            <a:r>
              <a:rPr spc="-10" dirty="0"/>
              <a:t>Shakya</a:t>
            </a:r>
            <a:r>
              <a:rPr spc="25" dirty="0"/>
              <a:t> </a:t>
            </a:r>
            <a:r>
              <a:rPr dirty="0"/>
              <a:t>Chakrabarti,</a:t>
            </a:r>
            <a:r>
              <a:rPr spc="25" dirty="0"/>
              <a:t> </a:t>
            </a:r>
            <a:r>
              <a:rPr spc="-10" dirty="0"/>
              <a:t>Akshay</a:t>
            </a:r>
            <a:r>
              <a:rPr spc="30" dirty="0"/>
              <a:t> </a:t>
            </a:r>
            <a:r>
              <a:rPr dirty="0"/>
              <a:t>Wali,</a:t>
            </a:r>
            <a:r>
              <a:rPr spc="25" dirty="0"/>
              <a:t> </a:t>
            </a:r>
            <a:r>
              <a:rPr spc="-10" dirty="0"/>
              <a:t>Harikrishnan</a:t>
            </a:r>
          </a:p>
          <a:p>
            <a:pPr marL="192405" marR="45085">
              <a:lnSpc>
                <a:spcPct val="100000"/>
              </a:lnSpc>
              <a:spcBef>
                <a:spcPts val="220"/>
              </a:spcBef>
            </a:pPr>
            <a:r>
              <a:rPr spc="-10" dirty="0"/>
              <a:t>Ravichandran,</a:t>
            </a:r>
            <a:r>
              <a:rPr spc="25" dirty="0"/>
              <a:t> </a:t>
            </a:r>
            <a:r>
              <a:rPr dirty="0"/>
              <a:t>Shamik</a:t>
            </a:r>
            <a:r>
              <a:rPr spc="25" dirty="0"/>
              <a:t> </a:t>
            </a:r>
            <a:r>
              <a:rPr dirty="0"/>
              <a:t>Kundu,</a:t>
            </a:r>
            <a:r>
              <a:rPr spc="25" dirty="0"/>
              <a:t> </a:t>
            </a:r>
            <a:r>
              <a:rPr dirty="0"/>
              <a:t>Thomas</a:t>
            </a:r>
            <a:r>
              <a:rPr spc="25" dirty="0"/>
              <a:t> </a:t>
            </a:r>
            <a:r>
              <a:rPr dirty="0"/>
              <a:t>F.</a:t>
            </a:r>
            <a:r>
              <a:rPr spc="25" dirty="0"/>
              <a:t> </a:t>
            </a:r>
            <a:r>
              <a:rPr spc="-10" dirty="0"/>
              <a:t>Schranghamer,</a:t>
            </a:r>
            <a:r>
              <a:rPr spc="25" dirty="0"/>
              <a:t> </a:t>
            </a:r>
            <a:r>
              <a:rPr dirty="0"/>
              <a:t>Kanad</a:t>
            </a:r>
            <a:r>
              <a:rPr spc="25" dirty="0"/>
              <a:t> </a:t>
            </a:r>
            <a:r>
              <a:rPr dirty="0"/>
              <a:t>Basu,</a:t>
            </a:r>
            <a:r>
              <a:rPr spc="25" dirty="0"/>
              <a:t> </a:t>
            </a:r>
            <a:r>
              <a:rPr dirty="0"/>
              <a:t>and</a:t>
            </a:r>
            <a:r>
              <a:rPr spc="30" dirty="0"/>
              <a:t> </a:t>
            </a:r>
            <a:r>
              <a:rPr spc="-10" dirty="0"/>
              <a:t>Saptarshi</a:t>
            </a:r>
            <a:r>
              <a:rPr spc="25" dirty="0"/>
              <a:t> </a:t>
            </a:r>
            <a:r>
              <a:rPr dirty="0"/>
              <a:t>Das</a:t>
            </a:r>
            <a:r>
              <a:rPr spc="25" dirty="0"/>
              <a:t> </a:t>
            </a:r>
            <a:r>
              <a:rPr spc="-10" dirty="0"/>
              <a:t>ACS</a:t>
            </a:r>
            <a:r>
              <a:rPr spc="25" dirty="0"/>
              <a:t> </a:t>
            </a:r>
            <a:r>
              <a:rPr dirty="0"/>
              <a:t>Applied</a:t>
            </a:r>
            <a:r>
              <a:rPr spc="25" dirty="0"/>
              <a:t> </a:t>
            </a:r>
            <a:r>
              <a:rPr dirty="0"/>
              <a:t>Nano</a:t>
            </a:r>
            <a:r>
              <a:rPr spc="25" dirty="0"/>
              <a:t> </a:t>
            </a:r>
            <a:r>
              <a:rPr dirty="0"/>
              <a:t>Materials</a:t>
            </a:r>
            <a:r>
              <a:rPr spc="25" dirty="0"/>
              <a:t> </a:t>
            </a:r>
            <a:r>
              <a:rPr dirty="0"/>
              <a:t>2022</a:t>
            </a:r>
            <a:r>
              <a:rPr spc="25" dirty="0"/>
              <a:t> </a:t>
            </a:r>
            <a:r>
              <a:rPr dirty="0"/>
              <a:t>5</a:t>
            </a:r>
            <a:r>
              <a:rPr spc="30" dirty="0"/>
              <a:t> </a:t>
            </a:r>
            <a:r>
              <a:rPr dirty="0"/>
              <a:t>(10),</a:t>
            </a:r>
            <a:r>
              <a:rPr spc="25" dirty="0"/>
              <a:t> </a:t>
            </a:r>
            <a:r>
              <a:rPr spc="-20" dirty="0"/>
              <a:t>14447-</a:t>
            </a:r>
            <a:r>
              <a:rPr spc="-10" dirty="0"/>
              <a:t>14455</a:t>
            </a:r>
            <a:r>
              <a:rPr spc="500" dirty="0"/>
              <a:t> </a:t>
            </a:r>
            <a:r>
              <a:rPr dirty="0"/>
              <a:t>DOI:</a:t>
            </a:r>
            <a:r>
              <a:rPr spc="75" dirty="0"/>
              <a:t> </a:t>
            </a:r>
            <a:r>
              <a:rPr spc="-10" dirty="0"/>
              <a:t>10.1021/acsanm.2c02807</a:t>
            </a: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/>
          </a:p>
          <a:p>
            <a:pPr marL="12700">
              <a:lnSpc>
                <a:spcPct val="100000"/>
              </a:lnSpc>
            </a:pPr>
            <a:r>
              <a:rPr u="sng" spc="545" dirty="0">
                <a:uFill>
                  <a:solidFill>
                    <a:srgbClr val="B2B2B2"/>
                  </a:solidFill>
                </a:uFill>
                <a:latin typeface="Times New Roman"/>
                <a:cs typeface="Times New Roman"/>
              </a:rPr>
              <a:t> </a:t>
            </a:r>
            <a:r>
              <a:rPr spc="225" dirty="0">
                <a:latin typeface="Times New Roman"/>
                <a:cs typeface="Times New Roman"/>
              </a:rPr>
              <a:t>  </a:t>
            </a:r>
            <a:r>
              <a:rPr dirty="0"/>
              <a:t>[3]</a:t>
            </a:r>
            <a:r>
              <a:rPr spc="35" dirty="0"/>
              <a:t> </a:t>
            </a:r>
            <a:r>
              <a:rPr dirty="0"/>
              <a:t>Smithson,</a:t>
            </a:r>
            <a:r>
              <a:rPr spc="30" dirty="0"/>
              <a:t> </a:t>
            </a:r>
            <a:r>
              <a:rPr dirty="0"/>
              <a:t>S.</a:t>
            </a:r>
            <a:r>
              <a:rPr spc="35" dirty="0"/>
              <a:t> </a:t>
            </a:r>
            <a:r>
              <a:rPr dirty="0"/>
              <a:t>C.,</a:t>
            </a:r>
            <a:r>
              <a:rPr spc="30" dirty="0"/>
              <a:t> </a:t>
            </a:r>
            <a:r>
              <a:rPr spc="-10" dirty="0"/>
              <a:t>Onizawa,</a:t>
            </a:r>
            <a:r>
              <a:rPr spc="30" dirty="0"/>
              <a:t> </a:t>
            </a:r>
            <a:r>
              <a:rPr dirty="0"/>
              <a:t>N.,</a:t>
            </a:r>
            <a:r>
              <a:rPr spc="30" dirty="0"/>
              <a:t> </a:t>
            </a:r>
            <a:r>
              <a:rPr dirty="0"/>
              <a:t>Meyer,</a:t>
            </a:r>
            <a:r>
              <a:rPr spc="35" dirty="0"/>
              <a:t> </a:t>
            </a:r>
            <a:r>
              <a:rPr dirty="0"/>
              <a:t>B.</a:t>
            </a:r>
            <a:r>
              <a:rPr spc="30" dirty="0"/>
              <a:t> </a:t>
            </a:r>
            <a:r>
              <a:rPr dirty="0"/>
              <a:t>H.,</a:t>
            </a:r>
            <a:r>
              <a:rPr spc="30" dirty="0"/>
              <a:t> </a:t>
            </a:r>
            <a:r>
              <a:rPr spc="-10" dirty="0"/>
              <a:t>Gross,</a:t>
            </a:r>
            <a:r>
              <a:rPr spc="30" dirty="0"/>
              <a:t> </a:t>
            </a:r>
            <a:r>
              <a:rPr dirty="0"/>
              <a:t>W.</a:t>
            </a:r>
            <a:r>
              <a:rPr spc="30" dirty="0"/>
              <a:t> </a:t>
            </a:r>
            <a:r>
              <a:rPr dirty="0"/>
              <a:t>J.</a:t>
            </a:r>
            <a:r>
              <a:rPr spc="204" dirty="0"/>
              <a:t> </a:t>
            </a:r>
            <a:r>
              <a:rPr dirty="0"/>
              <a:t>Hanyu,</a:t>
            </a:r>
            <a:r>
              <a:rPr spc="30" dirty="0"/>
              <a:t> </a:t>
            </a:r>
            <a:r>
              <a:rPr dirty="0"/>
              <a:t>T.</a:t>
            </a:r>
            <a:r>
              <a:rPr spc="30" dirty="0"/>
              <a:t> </a:t>
            </a:r>
            <a:r>
              <a:rPr dirty="0"/>
              <a:t>Efficient</a:t>
            </a:r>
            <a:r>
              <a:rPr spc="30" dirty="0"/>
              <a:t> </a:t>
            </a:r>
            <a:r>
              <a:rPr dirty="0"/>
              <a:t>CMOS</a:t>
            </a:r>
            <a:r>
              <a:rPr spc="35" dirty="0"/>
              <a:t> </a:t>
            </a:r>
            <a:r>
              <a:rPr dirty="0"/>
              <a:t>Invertible</a:t>
            </a:r>
            <a:r>
              <a:rPr spc="30" dirty="0"/>
              <a:t> </a:t>
            </a:r>
            <a:r>
              <a:rPr dirty="0"/>
              <a:t>Logic</a:t>
            </a:r>
            <a:r>
              <a:rPr spc="30" dirty="0"/>
              <a:t> </a:t>
            </a:r>
            <a:r>
              <a:rPr dirty="0"/>
              <a:t>Using</a:t>
            </a:r>
            <a:r>
              <a:rPr spc="30" dirty="0"/>
              <a:t> </a:t>
            </a:r>
            <a:r>
              <a:rPr dirty="0"/>
              <a:t>Stochastic</a:t>
            </a:r>
            <a:r>
              <a:rPr spc="35" dirty="0"/>
              <a:t> </a:t>
            </a:r>
            <a:r>
              <a:rPr dirty="0"/>
              <a:t>Computing.</a:t>
            </a:r>
            <a:r>
              <a:rPr spc="30" dirty="0"/>
              <a:t> </a:t>
            </a:r>
            <a:r>
              <a:rPr dirty="0"/>
              <a:t>IEEE</a:t>
            </a:r>
            <a:r>
              <a:rPr spc="30" dirty="0"/>
              <a:t> </a:t>
            </a:r>
            <a:r>
              <a:rPr spc="-10" dirty="0"/>
              <a:t>Trans.</a:t>
            </a:r>
          </a:p>
          <a:p>
            <a:pPr marL="192405">
              <a:lnSpc>
                <a:spcPct val="100000"/>
              </a:lnSpc>
              <a:spcBef>
                <a:spcPts val="220"/>
              </a:spcBef>
            </a:pPr>
            <a:r>
              <a:rPr dirty="0"/>
              <a:t>Circuits</a:t>
            </a:r>
            <a:r>
              <a:rPr spc="10" dirty="0"/>
              <a:t> </a:t>
            </a:r>
            <a:r>
              <a:rPr dirty="0"/>
              <a:t>Syst.</a:t>
            </a:r>
            <a:r>
              <a:rPr spc="15" dirty="0"/>
              <a:t> </a:t>
            </a:r>
            <a:r>
              <a:rPr dirty="0"/>
              <a:t>I:</a:t>
            </a:r>
            <a:r>
              <a:rPr spc="15" dirty="0"/>
              <a:t> </a:t>
            </a:r>
            <a:r>
              <a:rPr dirty="0"/>
              <a:t>Regul.</a:t>
            </a:r>
            <a:r>
              <a:rPr spc="15" dirty="0"/>
              <a:t> </a:t>
            </a:r>
            <a:r>
              <a:rPr dirty="0"/>
              <a:t>Pap.</a:t>
            </a:r>
            <a:r>
              <a:rPr spc="15" dirty="0"/>
              <a:t> </a:t>
            </a:r>
            <a:r>
              <a:rPr dirty="0"/>
              <a:t>66,</a:t>
            </a:r>
            <a:r>
              <a:rPr spc="15" dirty="0"/>
              <a:t> </a:t>
            </a:r>
            <a:r>
              <a:rPr spc="-10" dirty="0"/>
              <a:t>2263–2274</a:t>
            </a:r>
            <a:r>
              <a:rPr spc="15" dirty="0"/>
              <a:t> </a:t>
            </a:r>
            <a:r>
              <a:rPr spc="-10" dirty="0"/>
              <a:t>(2019).</a:t>
            </a:r>
          </a:p>
          <a:p>
            <a:pPr marL="192405" marR="112395" indent="-180340">
              <a:lnSpc>
                <a:spcPct val="137000"/>
              </a:lnSpc>
              <a:spcBef>
                <a:spcPts val="450"/>
              </a:spcBef>
            </a:pPr>
            <a:r>
              <a:rPr u="sng" spc="220" dirty="0">
                <a:uFill>
                  <a:solidFill>
                    <a:srgbClr val="B2B2B2"/>
                  </a:solidFill>
                </a:uFill>
                <a:latin typeface="Times New Roman"/>
                <a:cs typeface="Times New Roman"/>
              </a:rPr>
              <a:t>  </a:t>
            </a:r>
            <a:r>
              <a:rPr spc="235" dirty="0">
                <a:latin typeface="Times New Roman"/>
                <a:cs typeface="Times New Roman"/>
              </a:rPr>
              <a:t>  </a:t>
            </a:r>
            <a:r>
              <a:rPr dirty="0"/>
              <a:t>[4]</a:t>
            </a:r>
            <a:r>
              <a:rPr spc="35" dirty="0"/>
              <a:t> </a:t>
            </a:r>
            <a:r>
              <a:rPr spc="-10" dirty="0"/>
              <a:t>Boyan</a:t>
            </a:r>
            <a:r>
              <a:rPr spc="35" dirty="0"/>
              <a:t> </a:t>
            </a:r>
            <a:r>
              <a:rPr dirty="0"/>
              <a:t>Jin,</a:t>
            </a:r>
            <a:r>
              <a:rPr spc="35" dirty="0"/>
              <a:t> </a:t>
            </a:r>
            <a:r>
              <a:rPr dirty="0"/>
              <a:t>Zhenlong</a:t>
            </a:r>
            <a:r>
              <a:rPr spc="35" dirty="0"/>
              <a:t> </a:t>
            </a:r>
            <a:r>
              <a:rPr dirty="0"/>
              <a:t>Wang,</a:t>
            </a:r>
            <a:r>
              <a:rPr spc="35" dirty="0"/>
              <a:t> </a:t>
            </a:r>
            <a:r>
              <a:rPr dirty="0"/>
              <a:t>Tianyu</a:t>
            </a:r>
            <a:r>
              <a:rPr spc="35" dirty="0"/>
              <a:t> </a:t>
            </a:r>
            <a:r>
              <a:rPr dirty="0"/>
              <a:t>Wang,</a:t>
            </a:r>
            <a:r>
              <a:rPr spc="35" dirty="0"/>
              <a:t> </a:t>
            </a:r>
            <a:r>
              <a:rPr dirty="0"/>
              <a:t>Jialin</a:t>
            </a:r>
            <a:r>
              <a:rPr spc="35" dirty="0"/>
              <a:t> </a:t>
            </a:r>
            <a:r>
              <a:rPr dirty="0"/>
              <a:t>Meng,</a:t>
            </a:r>
            <a:r>
              <a:rPr spc="35" dirty="0"/>
              <a:t> </a:t>
            </a:r>
            <a:r>
              <a:rPr dirty="0"/>
              <a:t>Memristor-Based</a:t>
            </a:r>
            <a:r>
              <a:rPr spc="35" dirty="0"/>
              <a:t> </a:t>
            </a:r>
            <a:r>
              <a:rPr dirty="0"/>
              <a:t>Artificial</a:t>
            </a:r>
            <a:r>
              <a:rPr spc="35" dirty="0"/>
              <a:t> </a:t>
            </a:r>
            <a:r>
              <a:rPr dirty="0"/>
              <a:t>Neural</a:t>
            </a:r>
            <a:r>
              <a:rPr spc="35" dirty="0"/>
              <a:t> </a:t>
            </a:r>
            <a:r>
              <a:rPr spc="-10" dirty="0"/>
              <a:t>Networks</a:t>
            </a:r>
            <a:r>
              <a:rPr spc="35" dirty="0"/>
              <a:t> </a:t>
            </a:r>
            <a:r>
              <a:rPr dirty="0"/>
              <a:t>for</a:t>
            </a:r>
            <a:r>
              <a:rPr spc="35" dirty="0"/>
              <a:t> </a:t>
            </a:r>
            <a:r>
              <a:rPr spc="-10" dirty="0"/>
              <a:t>Hardware</a:t>
            </a:r>
            <a:r>
              <a:rPr spc="35" dirty="0"/>
              <a:t> </a:t>
            </a:r>
            <a:r>
              <a:rPr dirty="0"/>
              <a:t>Neuromorphic</a:t>
            </a:r>
            <a:r>
              <a:rPr spc="35" dirty="0"/>
              <a:t> </a:t>
            </a:r>
            <a:r>
              <a:rPr spc="-10" dirty="0"/>
              <a:t>Computing,</a:t>
            </a:r>
            <a:r>
              <a:rPr spc="500" dirty="0"/>
              <a:t> </a:t>
            </a:r>
            <a:r>
              <a:rPr spc="-20" dirty="0"/>
              <a:t>Research,</a:t>
            </a:r>
            <a:r>
              <a:rPr spc="65" dirty="0"/>
              <a:t> </a:t>
            </a:r>
            <a:r>
              <a:rPr spc="-10" dirty="0"/>
              <a:t>10.34133/research.0758,</a:t>
            </a:r>
            <a:r>
              <a:rPr spc="70" dirty="0"/>
              <a:t> </a:t>
            </a:r>
            <a:r>
              <a:rPr dirty="0"/>
              <a:t>8,</a:t>
            </a:r>
            <a:r>
              <a:rPr spc="70" dirty="0"/>
              <a:t> </a:t>
            </a:r>
            <a:r>
              <a:rPr spc="-10" dirty="0"/>
              <a:t>(2025).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580"/>
              </a:lnSpc>
            </a:pPr>
            <a:fld id="{81D60167-4931-47E6-BA6A-407CBD079E47}" type="slidenum">
              <a:rPr spc="-20" dirty="0"/>
              <a:pPr marL="38100">
                <a:lnSpc>
                  <a:spcPts val="580"/>
                </a:lnSpc>
              </a:pPr>
              <a:t>16</a:t>
            </a:fld>
            <a:r>
              <a:rPr spc="-50" dirty="0"/>
              <a:t> </a:t>
            </a:r>
            <a:r>
              <a:rPr spc="125" dirty="0"/>
              <a:t>/</a:t>
            </a:r>
            <a:r>
              <a:rPr spc="-45" dirty="0"/>
              <a:t> </a:t>
            </a:r>
            <a:r>
              <a:rPr spc="-25" dirty="0"/>
              <a:t>17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333B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1599</Words>
  <Application>Microsoft Office PowerPoint</Application>
  <PresentationFormat>Custom</PresentationFormat>
  <Paragraphs>183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Two-Dimensional Memtransistors: Modeling and Simulation for Circuit Design</vt:lpstr>
      <vt:lpstr>Table of Contents</vt:lpstr>
      <vt:lpstr>Introduction</vt:lpstr>
      <vt:lpstr>Need and Motivation</vt:lpstr>
      <vt:lpstr>Literature Review</vt:lpstr>
      <vt:lpstr>Cont.</vt:lpstr>
      <vt:lpstr>Dielectric Engineering: HfO2 vs. Al2O3</vt:lpstr>
      <vt:lpstr>Interface traps and bulk traps</vt:lpstr>
      <vt:lpstr>Research Gaps</vt:lpstr>
      <vt:lpstr>Current work</vt:lpstr>
      <vt:lpstr>TCAD Physics models used</vt:lpstr>
      <vt:lpstr>Simulation result</vt:lpstr>
      <vt:lpstr>Id vs Vgs characteristic at different trap concentration</vt:lpstr>
      <vt:lpstr>Post Programing pulse state</vt:lpstr>
      <vt:lpstr>Challenges in Current work</vt:lpstr>
      <vt:lpstr>References I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Two-Dimensional Memtransistors: Modeling and Simulation for Circuit Design</dc:title>
  <dc:creator>ASGAR ALI  M.Tech VLSI DESIGN 2024PVL0094</dc:creator>
  <cp:lastModifiedBy>asgar ali</cp:lastModifiedBy>
  <cp:revision>5</cp:revision>
  <dcterms:created xsi:type="dcterms:W3CDTF">2026-01-22T07:45:29Z</dcterms:created>
  <dcterms:modified xsi:type="dcterms:W3CDTF">2026-03-31T12:24:25Z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2025-12-02T00:00:00Z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2026-01-22T00:00:00Z</vt:filetime>
  </property>
  <property fmtid="{D5CDD505-2E9C-101B-9397-08002B2CF9AE}" pid="5" name="PTEX.Fullbanner">
    <vt:lpwstr>This is pdfTeX, Version 3.141592653-2.6-1.40.26 (TeX Live 2024) kpathsea version 6.4.0</vt:lpwstr>
  </property>
  <property fmtid="{D5CDD505-2E9C-101B-9397-08002B2CF9AE}" pid="6" name="Producer">
    <vt:lpwstr>pdfTeX-1.40.26</vt:lpwstr>
  </property>
</Properties>
</file>